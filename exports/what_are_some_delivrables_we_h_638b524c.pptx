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framing this as Chryselys' synthesized intelligence on what are some delivrables we h. Hero: Comprehensive analytics on ESR1 mutation prevalence, treatment patterns, and metastatic site distribution 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been working closely with Stemline on multiple fronts to support their Orserdu brand growth. Our comprehensive analytics covered everything from market research using Guardant and IQVIA data to managing their CONNEX educational program attendees across multiple states. The result has been actionable insights that directly inform their sales strategy and market approach.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provided Stemline with comprehensive analytics across their Orserdu brand, from understanding ESR1 mutation patterns to identifying key growth drivers. Our multi-database approach gave them actionable insights to optimize their market strategy and sales enablement efforts.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conducted a comprehensive segmentation of your healthcare providers to understand how they're engaging with Orserdu - looking at both their prescribing patterns and testing behaviors. This analysis gave us clear insights into different HCP segments that your sales team can now target with tailored strategies based on each provider's specific engagement profile.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conducted a comprehensive growth analysis for Orserdu by consolidating your sales data across all three channels - SP, HUB, and SD. This analysis revealed specific growth opportunities in community accounts and helped identify your highest-potential territories for focused investment.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took a comprehensive approach starting with foundational market analytics, then moved into strategic segmentation and growth analysis. The final deliverables included both tactical tools like the CONNEX attendee database and strategic recommendations to drive territorial expansion.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approaches we used for Stemline's Orserdu can be directly applied to any oncology brand. The HCP segmentation methodology helps optimize sales force deployment, while the multi-dataset analytics approach provides comprehensive market intelligence that drives strategic decisions.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every source document this deck drew on. Each row is a real Chryselys deliverable you can follow up on with the listed POC.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11480"/>
            <a:ext cx="1554480" cy="274320"/>
          </a:xfrm>
          <a:prstGeom prst="rect">
            <a:avLst/>
          </a:prstGeom>
          <a:noFill/>
        </p:spPr>
        <p:txBody>
          <a:bodyPr wrap="square" lIns="18288" rIns="18288" tIns="9144" bIns="9144">
            <a:normAutofit/>
          </a:bodyPr>
          <a:lstStyle/>
          <a:p>
            <a:r>
              <a:rPr sz="1400" b="1">
                <a:solidFill>
                  <a:srgbClr val="B58930"/>
                </a:solidFill>
                <a:latin typeface="Aptos"/>
              </a:rPr>
              <a:t>BLITZ</a:t>
            </a:r>
          </a:p>
        </p:txBody>
      </p:sp>
      <p:sp>
        <p:nvSpPr>
          <p:cNvPr id="4" name="TextBox 3"/>
          <p:cNvSpPr txBox="1"/>
          <p:nvPr/>
        </p:nvSpPr>
        <p:spPr>
          <a:xfrm>
            <a:off x="658368" y="1600200"/>
            <a:ext cx="7040880" cy="1188720"/>
          </a:xfrm>
          <a:prstGeom prst="rect">
            <a:avLst/>
          </a:prstGeom>
          <a:noFill/>
        </p:spPr>
        <p:txBody>
          <a:bodyPr wrap="square" lIns="18288" rIns="18288" tIns="9144" bIns="9144">
            <a:normAutofit/>
          </a:bodyPr>
          <a:lstStyle/>
          <a:p>
            <a:r>
              <a:rPr sz="3100" b="1">
                <a:solidFill>
                  <a:srgbClr val="2B2319"/>
                </a:solidFill>
                <a:latin typeface="Aptos"/>
              </a:rPr>
              <a:t>Powering Orserdu's Growth with Actionable Insights</a:t>
            </a:r>
          </a:p>
        </p:txBody>
      </p:sp>
      <p:sp>
        <p:nvSpPr>
          <p:cNvPr id="5" name="TextBox 4"/>
          <p:cNvSpPr txBox="1"/>
          <p:nvPr/>
        </p:nvSpPr>
        <p:spPr>
          <a:xfrm>
            <a:off x="713232" y="2907792"/>
            <a:ext cx="6766560" cy="502920"/>
          </a:xfrm>
          <a:prstGeom prst="rect">
            <a:avLst/>
          </a:prstGeom>
          <a:noFill/>
        </p:spPr>
        <p:txBody>
          <a:bodyPr wrap="square" lIns="18288" rIns="18288" tIns="9144" bIns="9144">
            <a:normAutofit/>
          </a:bodyPr>
          <a:lstStyle/>
          <a:p>
            <a:r>
              <a:rPr sz="1400" b="0">
                <a:solidFill>
                  <a:srgbClr val="705F44"/>
                </a:solidFill>
                <a:latin typeface="Aptos"/>
              </a:rPr>
              <a:t>How Chryselys delivered market research, analytics, and event management to drive Stemline's metast...</a:t>
            </a:r>
          </a:p>
        </p:txBody>
      </p:sp>
      <p:sp>
        <p:nvSpPr>
          <p:cNvPr id="6" name="Rounded Rectangle 5"/>
          <p:cNvSpPr/>
          <p:nvPr/>
        </p:nvSpPr>
        <p:spPr>
          <a:xfrm>
            <a:off x="658368" y="3703320"/>
            <a:ext cx="7040880" cy="105156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822191"/>
            <a:ext cx="3200400" cy="201168"/>
          </a:xfrm>
          <a:prstGeom prst="rect">
            <a:avLst/>
          </a:prstGeom>
          <a:noFill/>
        </p:spPr>
        <p:txBody>
          <a:bodyPr wrap="square" lIns="18288" rIns="18288" tIns="9144" bIns="9144">
            <a:normAutofit/>
          </a:bodyPr>
          <a:lstStyle/>
          <a:p>
            <a:r>
              <a:rPr sz="800" b="1">
                <a:solidFill>
                  <a:srgbClr val="B58930"/>
                </a:solidFill>
                <a:latin typeface="Aptos"/>
              </a:rPr>
              <a:t>HERO OUTCOME</a:t>
            </a:r>
          </a:p>
        </p:txBody>
      </p:sp>
      <p:sp>
        <p:nvSpPr>
          <p:cNvPr id="8" name="TextBox 7"/>
          <p:cNvSpPr txBox="1"/>
          <p:nvPr/>
        </p:nvSpPr>
        <p:spPr>
          <a:xfrm>
            <a:off x="868680" y="4041648"/>
            <a:ext cx="6675120" cy="594360"/>
          </a:xfrm>
          <a:prstGeom prst="rect">
            <a:avLst/>
          </a:prstGeom>
          <a:noFill/>
        </p:spPr>
        <p:txBody>
          <a:bodyPr wrap="square" lIns="18288" rIns="18288" tIns="9144" bIns="9144">
            <a:normAutofit/>
          </a:bodyPr>
          <a:lstStyle/>
          <a:p>
            <a:r>
              <a:rPr sz="1400" b="1">
                <a:solidFill>
                  <a:srgbClr val="2B2319"/>
                </a:solidFill>
                <a:latin typeface="Aptos"/>
              </a:rPr>
              <a:t>Comprehensive analytics on ESR1 mutation prevalence, treatment patterns, and metastatic site distribution to...</a:t>
            </a:r>
          </a:p>
        </p:txBody>
      </p:sp>
      <p:sp>
        <p:nvSpPr>
          <p:cNvPr id="9" name="Oval 8"/>
          <p:cNvSpPr/>
          <p:nvPr/>
        </p:nvSpPr>
        <p:spPr>
          <a:xfrm>
            <a:off x="8183879" y="1691640"/>
            <a:ext cx="3337560" cy="3337560"/>
          </a:xfrm>
          <a:prstGeom prst="ellipse">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2697480"/>
            <a:ext cx="3154680" cy="502920"/>
          </a:xfrm>
          <a:prstGeom prst="rect">
            <a:avLst/>
          </a:prstGeom>
          <a:noFill/>
        </p:spPr>
        <p:txBody>
          <a:bodyPr wrap="square" lIns="18288" rIns="18288" tIns="9144" bIns="9144">
            <a:normAutofit/>
          </a:bodyPr>
          <a:lstStyle/>
          <a:p>
            <a:pPr algn="ctr"/>
            <a:r>
              <a:rPr sz="1600" b="1">
                <a:solidFill>
                  <a:srgbClr val="B58930"/>
                </a:solidFill>
                <a:latin typeface="Aptos"/>
              </a:rPr>
              <a:t>CLIENT SHOWCASE</a:t>
            </a:r>
          </a:p>
        </p:txBody>
      </p:sp>
      <p:sp>
        <p:nvSpPr>
          <p:cNvPr id="11" name="TextBox 10"/>
          <p:cNvSpPr txBox="1"/>
          <p:nvPr/>
        </p:nvSpPr>
        <p:spPr>
          <a:xfrm>
            <a:off x="8275320" y="3337560"/>
            <a:ext cx="3154680" cy="502920"/>
          </a:xfrm>
          <a:prstGeom prst="rect">
            <a:avLst/>
          </a:prstGeom>
          <a:noFill/>
        </p:spPr>
        <p:txBody>
          <a:bodyPr wrap="square" lIns="18288" rIns="18288" tIns="9144" bIns="9144">
            <a:normAutofit/>
          </a:bodyPr>
          <a:lstStyle/>
          <a:p>
            <a:pPr algn="ctr"/>
            <a:r>
              <a:rPr sz="1000" b="0">
                <a:solidFill>
                  <a:srgbClr val="705F44"/>
                </a:solidFill>
                <a:latin typeface="Aptos"/>
              </a:rPr>
              <a:t>Cited synthesis · Source mapping · Proposal-ready</a:t>
            </a:r>
          </a:p>
        </p:txBody>
      </p:sp>
      <p:sp>
        <p:nvSpPr>
          <p:cNvPr id="12" name="TextBox 11"/>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13" name="TextBox 12"/>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DECISION BRIEF</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Engagement at a Glance</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6766560" cy="4114800"/>
          </a:xfrm>
          <a:prstGeom prst="rect">
            <a:avLst/>
          </a:prstGeom>
          <a:noFill/>
        </p:spPr>
        <p:txBody>
          <a:bodyPr wrap="square" lIns="18288" rIns="45720" tIns="18288" bIns="18288">
            <a:normAutofit/>
          </a:bodyPr>
          <a:lstStyle/>
          <a:p>
            <a:pPr>
              <a:spcAft>
                <a:spcPts val="500"/>
              </a:spcAft>
              <a:defRPr sz="1500">
                <a:solidFill>
                  <a:srgbClr val="2B2319"/>
                </a:solidFill>
                <a:latin typeface="Aptos"/>
              </a:defRPr>
            </a:pPr>
            <a:r>
              <a:t>- Stemline asked us to analyze Orserdu growth opportunities and HCP engagement patterns</a:t>
            </a:r>
          </a:p>
          <a:p>
            <a:pPr>
              <a:spcAft>
                <a:spcPts val="500"/>
              </a:spcAft>
              <a:defRPr sz="1500">
                <a:solidFill>
                  <a:srgbClr val="2B2319"/>
                </a:solidFill>
                <a:latin typeface="Aptos"/>
              </a:defRPr>
            </a:pPr>
            <a:r>
              <a:t>- We delivered market analytics, HCP segmentation, growth drivers analysis, and CONNEX event management</a:t>
            </a:r>
          </a:p>
          <a:p>
            <a:pPr>
              <a:spcAft>
                <a:spcPts val="500"/>
              </a:spcAft>
              <a:defRPr sz="1500">
                <a:solidFill>
                  <a:srgbClr val="2B2319"/>
                </a:solidFill>
                <a:latin typeface="Aptos"/>
              </a:defRPr>
            </a:pPr>
            <a:r>
              <a:t>- Provided actionable insights on ESR1 mutation prevalence, territorial performance, and sales enablement</a:t>
            </a:r>
          </a:p>
        </p:txBody>
      </p:sp>
      <p:sp>
        <p:nvSpPr>
          <p:cNvPr id="7" name="Rounded Rectangle 6"/>
          <p:cNvSpPr/>
          <p:nvPr/>
        </p:nvSpPr>
        <p:spPr>
          <a:xfrm>
            <a:off x="7818120" y="1600200"/>
            <a:ext cx="3886200" cy="40690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28431" y="1783080"/>
            <a:ext cx="3520440" cy="320040"/>
          </a:xfrm>
          <a:prstGeom prst="rect">
            <a:avLst/>
          </a:prstGeom>
          <a:noFill/>
        </p:spPr>
        <p:txBody>
          <a:bodyPr wrap="square" lIns="18288" rIns="18288" tIns="9144" bIns="9144">
            <a:normAutofit/>
          </a:bodyPr>
          <a:lstStyle/>
          <a:p>
            <a:r>
              <a:rPr sz="1100" b="1">
                <a:solidFill>
                  <a:srgbClr val="B58930"/>
                </a:solidFill>
                <a:latin typeface="Aptos"/>
              </a:rPr>
              <a:t>Why this engagement matters</a:t>
            </a:r>
          </a:p>
        </p:txBody>
      </p:sp>
      <p:sp>
        <p:nvSpPr>
          <p:cNvPr id="9" name="TextBox 8"/>
          <p:cNvSpPr txBox="1"/>
          <p:nvPr/>
        </p:nvSpPr>
        <p:spPr>
          <a:xfrm>
            <a:off x="8028431" y="2194560"/>
            <a:ext cx="3520440" cy="3246120"/>
          </a:xfrm>
          <a:prstGeom prst="rect">
            <a:avLst/>
          </a:prstGeom>
          <a:noFill/>
        </p:spPr>
        <p:txBody>
          <a:bodyPr wrap="square" lIns="18288" rIns="18288" tIns="9144" bIns="9144">
            <a:normAutofit/>
          </a:bodyPr>
          <a:lstStyle/>
          <a:p>
            <a:r>
              <a:rPr sz="1000" b="0">
                <a:solidFill>
                  <a:srgbClr val="705F44"/>
                </a:solidFill>
                <a:latin typeface="Aptos"/>
              </a:rPr>
              <a:t>Anchors the work Chryselys did for the named client and shows how that experience transfers to similar pharma asks.</a:t>
            </a:r>
          </a:p>
        </p:txBody>
      </p:sp>
      <p:sp>
        <p:nvSpPr>
          <p:cNvPr id="10" name="TextBox 9"/>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11" name="TextBox 10"/>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ENGAGEMENT | CLIENT - STEMLINE (US)</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Orserdu Market Analytics and Growth Strategy</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325880"/>
            <a:ext cx="10972800" cy="50292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7315200" cy="320040"/>
          </a:xfrm>
          <a:prstGeom prst="rect">
            <a:avLst/>
          </a:prstGeom>
          <a:noFill/>
        </p:spPr>
        <p:txBody>
          <a:bodyPr wrap="square" lIns="18288" rIns="18288" tIns="9144" bIns="9144">
            <a:normAutofit/>
          </a:bodyPr>
          <a:lstStyle/>
          <a:p>
            <a:r>
              <a:rPr sz="1100" b="1">
                <a:solidFill>
                  <a:srgbClr val="2B2319"/>
                </a:solidFill>
                <a:latin typeface="Aptos"/>
              </a:rPr>
              <a:t>POC: Gaurav</a:t>
            </a:r>
          </a:p>
        </p:txBody>
      </p:sp>
      <p:sp>
        <p:nvSpPr>
          <p:cNvPr id="8" name="TextBox 7"/>
          <p:cNvSpPr txBox="1"/>
          <p:nvPr/>
        </p:nvSpPr>
        <p:spPr>
          <a:xfrm>
            <a:off x="10332720" y="1417320"/>
            <a:ext cx="1143000" cy="320040"/>
          </a:xfrm>
          <a:prstGeom prst="rect">
            <a:avLst/>
          </a:prstGeom>
          <a:noFill/>
        </p:spPr>
        <p:txBody>
          <a:bodyPr wrap="square" lIns="18288" rIns="18288" tIns="9144" bIns="9144">
            <a:normAutofit/>
          </a:bodyPr>
          <a:lstStyle/>
          <a:p>
            <a:pPr algn="r"/>
            <a:r>
              <a:rPr sz="1000" b="1">
                <a:solidFill>
                  <a:srgbClr val="B58930"/>
                </a:solidFill>
                <a:latin typeface="Aptos"/>
              </a:rPr>
              <a:t>Doc 1</a:t>
            </a:r>
          </a:p>
        </p:txBody>
      </p:sp>
      <p:sp>
        <p:nvSpPr>
          <p:cNvPr id="9" name="Rounded Rectangle 8"/>
          <p:cNvSpPr/>
          <p:nvPr/>
        </p:nvSpPr>
        <p:spPr>
          <a:xfrm>
            <a:off x="59436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5029200" cy="274320"/>
          </a:xfrm>
          <a:prstGeom prst="rect">
            <a:avLst/>
          </a:prstGeom>
          <a:noFill/>
        </p:spPr>
        <p:txBody>
          <a:bodyPr wrap="square" lIns="18288" rIns="18288" tIns="9144" bIns="9144">
            <a:normAutofit/>
          </a:bodyPr>
          <a:lstStyle/>
          <a:p>
            <a:r>
              <a:rPr sz="900" b="1">
                <a:solidFill>
                  <a:srgbClr val="B58930"/>
                </a:solidFill>
                <a:latin typeface="Aptos"/>
              </a:rPr>
              <a:t>BUSINESS OBJECTIVE</a:t>
            </a:r>
          </a:p>
        </p:txBody>
      </p:sp>
      <p:sp>
        <p:nvSpPr>
          <p:cNvPr id="11" name="TextBox 10"/>
          <p:cNvSpPr txBox="1"/>
          <p:nvPr/>
        </p:nvSpPr>
        <p:spPr>
          <a:xfrm>
            <a:off x="822960" y="2514600"/>
            <a:ext cx="5029200" cy="1463040"/>
          </a:xfrm>
          <a:prstGeom prst="rect">
            <a:avLst/>
          </a:prstGeom>
          <a:noFill/>
        </p:spPr>
        <p:txBody>
          <a:bodyPr wrap="square" lIns="18288" rIns="18288" tIns="9144" bIns="9144">
            <a:normAutofit/>
          </a:bodyPr>
          <a:lstStyle/>
          <a:p>
            <a:r>
              <a:rPr sz="1100" b="0">
                <a:solidFill>
                  <a:srgbClr val="705F44"/>
                </a:solidFill>
                <a:latin typeface="Aptos"/>
              </a:rPr>
              <a:t>Analyze ESR1 mutation prevalence, treatment patterns, and identify growth opportunities for Orserdu brand.</a:t>
            </a:r>
          </a:p>
        </p:txBody>
      </p:sp>
      <p:sp>
        <p:nvSpPr>
          <p:cNvPr id="12" name="Rounded Rectangle 11"/>
          <p:cNvSpPr/>
          <p:nvPr/>
        </p:nvSpPr>
        <p:spPr>
          <a:xfrm>
            <a:off x="635508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194560"/>
            <a:ext cx="5029200" cy="274320"/>
          </a:xfrm>
          <a:prstGeom prst="rect">
            <a:avLst/>
          </a:prstGeom>
          <a:noFill/>
        </p:spPr>
        <p:txBody>
          <a:bodyPr wrap="square" lIns="18288" rIns="18288" tIns="9144" bIns="9144">
            <a:normAutofit/>
          </a:bodyPr>
          <a:lstStyle/>
          <a:p>
            <a:r>
              <a:rPr sz="900" b="1">
                <a:solidFill>
                  <a:srgbClr val="B58930"/>
                </a:solidFill>
                <a:latin typeface="Aptos"/>
              </a:rPr>
              <a:t>APPROACH</a:t>
            </a:r>
          </a:p>
        </p:txBody>
      </p:sp>
      <p:sp>
        <p:nvSpPr>
          <p:cNvPr id="14" name="TextBox 13"/>
          <p:cNvSpPr txBox="1"/>
          <p:nvPr/>
        </p:nvSpPr>
        <p:spPr>
          <a:xfrm>
            <a:off x="6583680" y="2514600"/>
            <a:ext cx="5029200" cy="1463040"/>
          </a:xfrm>
          <a:prstGeom prst="rect">
            <a:avLst/>
          </a:prstGeom>
          <a:noFill/>
        </p:spPr>
        <p:txBody>
          <a:bodyPr wrap="square" lIns="18288" rIns="18288" tIns="9144" bIns="9144">
            <a:normAutofit/>
          </a:bodyPr>
          <a:lstStyle/>
          <a:p>
            <a:r>
              <a:rPr sz="1100" b="0">
                <a:solidFill>
                  <a:srgbClr val="705F44"/>
                </a:solidFill>
                <a:latin typeface="Aptos"/>
              </a:rPr>
              <a:t>Leveraged multiple healthcare databases with KPIs and rules to derive comprehensive market insights.</a:t>
            </a:r>
          </a:p>
        </p:txBody>
      </p:sp>
      <p:sp>
        <p:nvSpPr>
          <p:cNvPr id="15" name="Rounded Rectangle 14"/>
          <p:cNvSpPr/>
          <p:nvPr/>
        </p:nvSpPr>
        <p:spPr>
          <a:xfrm>
            <a:off x="59436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343400"/>
            <a:ext cx="5029200" cy="274320"/>
          </a:xfrm>
          <a:prstGeom prst="rect">
            <a:avLst/>
          </a:prstGeom>
          <a:noFill/>
        </p:spPr>
        <p:txBody>
          <a:bodyPr wrap="square" lIns="18288" rIns="18288" tIns="9144" bIns="9144">
            <a:normAutofit/>
          </a:bodyPr>
          <a:lstStyle/>
          <a:p>
            <a:r>
              <a:rPr sz="900" b="1">
                <a:solidFill>
                  <a:srgbClr val="B58930"/>
                </a:solidFill>
                <a:latin typeface="Aptos"/>
              </a:rPr>
              <a:t>DATASETS &amp; TOOLS</a:t>
            </a:r>
          </a:p>
        </p:txBody>
      </p:sp>
      <p:sp>
        <p:nvSpPr>
          <p:cNvPr id="17" name="TextBox 16"/>
          <p:cNvSpPr txBox="1"/>
          <p:nvPr/>
        </p:nvSpPr>
        <p:spPr>
          <a:xfrm>
            <a:off x="822960" y="4663440"/>
            <a:ext cx="5029200" cy="1463040"/>
          </a:xfrm>
          <a:prstGeom prst="rect">
            <a:avLst/>
          </a:prstGeom>
          <a:noFill/>
        </p:spPr>
        <p:txBody>
          <a:bodyPr wrap="square" lIns="18288" rIns="18288" tIns="9144" bIns="9144">
            <a:normAutofit/>
          </a:bodyPr>
          <a:lstStyle/>
          <a:p>
            <a:r>
              <a:rPr sz="1100" b="0">
                <a:solidFill>
                  <a:srgbClr val="705F44"/>
                </a:solidFill>
                <a:latin typeface="Aptos"/>
              </a:rPr>
              <a:t>Guardant, Diaceutics, IQVIA, IQVIA Informed LOT</a:t>
            </a:r>
          </a:p>
        </p:txBody>
      </p:sp>
      <p:sp>
        <p:nvSpPr>
          <p:cNvPr id="18" name="Rounded Rectangle 17"/>
          <p:cNvSpPr/>
          <p:nvPr/>
        </p:nvSpPr>
        <p:spPr>
          <a:xfrm>
            <a:off x="635508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343400"/>
            <a:ext cx="5029200" cy="274320"/>
          </a:xfrm>
          <a:prstGeom prst="rect">
            <a:avLst/>
          </a:prstGeom>
          <a:noFill/>
        </p:spPr>
        <p:txBody>
          <a:bodyPr wrap="square" lIns="18288" rIns="18288" tIns="9144" bIns="9144">
            <a:normAutofit/>
          </a:bodyPr>
          <a:lstStyle/>
          <a:p>
            <a:r>
              <a:rPr sz="900" b="1">
                <a:solidFill>
                  <a:srgbClr val="B58930"/>
                </a:solidFill>
                <a:latin typeface="Aptos"/>
              </a:rPr>
              <a:t>OUTCOME</a:t>
            </a:r>
          </a:p>
        </p:txBody>
      </p:sp>
      <p:sp>
        <p:nvSpPr>
          <p:cNvPr id="20" name="TextBox 19"/>
          <p:cNvSpPr txBox="1"/>
          <p:nvPr/>
        </p:nvSpPr>
        <p:spPr>
          <a:xfrm>
            <a:off x="6583680" y="4663440"/>
            <a:ext cx="5029200" cy="1463040"/>
          </a:xfrm>
          <a:prstGeom prst="rect">
            <a:avLst/>
          </a:prstGeom>
          <a:noFill/>
        </p:spPr>
        <p:txBody>
          <a:bodyPr wrap="square" lIns="18288" rIns="18288" tIns="9144" bIns="9144">
            <a:normAutofit/>
          </a:bodyPr>
          <a:lstStyle/>
          <a:p>
            <a:r>
              <a:rPr sz="1100" b="0">
                <a:solidFill>
                  <a:srgbClr val="705F44"/>
                </a:solidFill>
                <a:latin typeface="Aptos"/>
              </a:rPr>
              <a:t>Delivered detailed insights on mutation prevalence, treatment patterns, and metastatic site distribution analysis.</a:t>
            </a:r>
          </a:p>
        </p:txBody>
      </p:sp>
      <p:sp>
        <p:nvSpPr>
          <p:cNvPr id="21" name="TextBox 20"/>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2" name="TextBox 21"/>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ENGAGEMENT | CLIENT - STEMLINE (US)</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HCP Segmentation Analysis for Orserdu Sales Enablement</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325880"/>
            <a:ext cx="10972800" cy="50292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7315200" cy="320040"/>
          </a:xfrm>
          <a:prstGeom prst="rect">
            <a:avLst/>
          </a:prstGeom>
          <a:noFill/>
        </p:spPr>
        <p:txBody>
          <a:bodyPr wrap="square" lIns="18288" rIns="18288" tIns="9144" bIns="9144">
            <a:normAutofit/>
          </a:bodyPr>
          <a:lstStyle/>
          <a:p>
            <a:r>
              <a:rPr sz="1100" b="1">
                <a:solidFill>
                  <a:srgbClr val="2B2319"/>
                </a:solidFill>
                <a:latin typeface="Aptos"/>
              </a:rPr>
              <a:t>POC: Gaurav</a:t>
            </a:r>
          </a:p>
        </p:txBody>
      </p:sp>
      <p:sp>
        <p:nvSpPr>
          <p:cNvPr id="8" name="TextBox 7"/>
          <p:cNvSpPr txBox="1"/>
          <p:nvPr/>
        </p:nvSpPr>
        <p:spPr>
          <a:xfrm>
            <a:off x="10332720" y="1417320"/>
            <a:ext cx="1143000" cy="320040"/>
          </a:xfrm>
          <a:prstGeom prst="rect">
            <a:avLst/>
          </a:prstGeom>
          <a:noFill/>
        </p:spPr>
        <p:txBody>
          <a:bodyPr wrap="square" lIns="18288" rIns="18288" tIns="9144" bIns="9144">
            <a:normAutofit/>
          </a:bodyPr>
          <a:lstStyle/>
          <a:p>
            <a:pPr algn="r"/>
            <a:r>
              <a:rPr sz="1000" b="1">
                <a:solidFill>
                  <a:srgbClr val="B58930"/>
                </a:solidFill>
                <a:latin typeface="Aptos"/>
              </a:rPr>
              <a:t>Doc 2</a:t>
            </a:r>
          </a:p>
        </p:txBody>
      </p:sp>
      <p:sp>
        <p:nvSpPr>
          <p:cNvPr id="9" name="Rounded Rectangle 8"/>
          <p:cNvSpPr/>
          <p:nvPr/>
        </p:nvSpPr>
        <p:spPr>
          <a:xfrm>
            <a:off x="59436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5029200" cy="274320"/>
          </a:xfrm>
          <a:prstGeom prst="rect">
            <a:avLst/>
          </a:prstGeom>
          <a:noFill/>
        </p:spPr>
        <p:txBody>
          <a:bodyPr wrap="square" lIns="18288" rIns="18288" tIns="9144" bIns="9144">
            <a:normAutofit/>
          </a:bodyPr>
          <a:lstStyle/>
          <a:p>
            <a:r>
              <a:rPr sz="900" b="1">
                <a:solidFill>
                  <a:srgbClr val="B58930"/>
                </a:solidFill>
                <a:latin typeface="Aptos"/>
              </a:rPr>
              <a:t>BUSINESS OBJECTIVE</a:t>
            </a:r>
          </a:p>
        </p:txBody>
      </p:sp>
      <p:sp>
        <p:nvSpPr>
          <p:cNvPr id="11" name="TextBox 10"/>
          <p:cNvSpPr txBox="1"/>
          <p:nvPr/>
        </p:nvSpPr>
        <p:spPr>
          <a:xfrm>
            <a:off x="822960" y="2514600"/>
            <a:ext cx="5029200" cy="1463040"/>
          </a:xfrm>
          <a:prstGeom prst="rect">
            <a:avLst/>
          </a:prstGeom>
          <a:noFill/>
        </p:spPr>
        <p:txBody>
          <a:bodyPr wrap="square" lIns="18288" rIns="18288" tIns="9144" bIns="9144">
            <a:normAutofit/>
          </a:bodyPr>
          <a:lstStyle/>
          <a:p>
            <a:r>
              <a:rPr sz="1100" b="0">
                <a:solidFill>
                  <a:srgbClr val="705F44"/>
                </a:solidFill>
                <a:latin typeface="Aptos"/>
              </a:rPr>
              <a:t>To understand the sales and testing patterns of Healthcare Providers for the Orserdu product and inform sales enablement strategies.</a:t>
            </a:r>
          </a:p>
        </p:txBody>
      </p:sp>
      <p:sp>
        <p:nvSpPr>
          <p:cNvPr id="12" name="Rounded Rectangle 11"/>
          <p:cNvSpPr/>
          <p:nvPr/>
        </p:nvSpPr>
        <p:spPr>
          <a:xfrm>
            <a:off x="635508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194560"/>
            <a:ext cx="5029200" cy="274320"/>
          </a:xfrm>
          <a:prstGeom prst="rect">
            <a:avLst/>
          </a:prstGeom>
          <a:noFill/>
        </p:spPr>
        <p:txBody>
          <a:bodyPr wrap="square" lIns="18288" rIns="18288" tIns="9144" bIns="9144">
            <a:normAutofit/>
          </a:bodyPr>
          <a:lstStyle/>
          <a:p>
            <a:r>
              <a:rPr sz="900" b="1">
                <a:solidFill>
                  <a:srgbClr val="B58930"/>
                </a:solidFill>
                <a:latin typeface="Aptos"/>
              </a:rPr>
              <a:t>APPROACH</a:t>
            </a:r>
          </a:p>
        </p:txBody>
      </p:sp>
      <p:sp>
        <p:nvSpPr>
          <p:cNvPr id="14" name="TextBox 13"/>
          <p:cNvSpPr txBox="1"/>
          <p:nvPr/>
        </p:nvSpPr>
        <p:spPr>
          <a:xfrm>
            <a:off x="6583680" y="2514600"/>
            <a:ext cx="5029200" cy="1463040"/>
          </a:xfrm>
          <a:prstGeom prst="rect">
            <a:avLst/>
          </a:prstGeom>
          <a:noFill/>
        </p:spPr>
        <p:txBody>
          <a:bodyPr wrap="square" lIns="18288" rIns="18288" tIns="9144" bIns="9144">
            <a:normAutofit/>
          </a:bodyPr>
          <a:lstStyle/>
          <a:p>
            <a:r>
              <a:rPr sz="1100" b="0">
                <a:solidFill>
                  <a:srgbClr val="705F44"/>
                </a:solidFill>
                <a:latin typeface="Aptos"/>
              </a:rPr>
              <a:t>Segmentation analysis of HCPs based on their sales and testing behaviors for the Orserdu product.</a:t>
            </a:r>
          </a:p>
        </p:txBody>
      </p:sp>
      <p:sp>
        <p:nvSpPr>
          <p:cNvPr id="15" name="Rounded Rectangle 14"/>
          <p:cNvSpPr/>
          <p:nvPr/>
        </p:nvSpPr>
        <p:spPr>
          <a:xfrm>
            <a:off x="59436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343400"/>
            <a:ext cx="5029200" cy="274320"/>
          </a:xfrm>
          <a:prstGeom prst="rect">
            <a:avLst/>
          </a:prstGeom>
          <a:noFill/>
        </p:spPr>
        <p:txBody>
          <a:bodyPr wrap="square" lIns="18288" rIns="18288" tIns="9144" bIns="9144">
            <a:normAutofit/>
          </a:bodyPr>
          <a:lstStyle/>
          <a:p>
            <a:r>
              <a:rPr sz="900" b="1">
                <a:solidFill>
                  <a:srgbClr val="B58930"/>
                </a:solidFill>
                <a:latin typeface="Aptos"/>
              </a:rPr>
              <a:t>DATASETS &amp; TOOLS</a:t>
            </a:r>
          </a:p>
        </p:txBody>
      </p:sp>
      <p:sp>
        <p:nvSpPr>
          <p:cNvPr id="17" name="TextBox 16"/>
          <p:cNvSpPr txBox="1"/>
          <p:nvPr/>
        </p:nvSpPr>
        <p:spPr>
          <a:xfrm>
            <a:off x="822960" y="4663440"/>
            <a:ext cx="5029200" cy="1463040"/>
          </a:xfrm>
          <a:prstGeom prst="rect">
            <a:avLst/>
          </a:prstGeom>
          <a:noFill/>
        </p:spPr>
        <p:txBody>
          <a:bodyPr wrap="square" lIns="18288" rIns="18288" tIns="9144" bIns="9144">
            <a:normAutofit/>
          </a:bodyPr>
          <a:lstStyle/>
          <a:p>
            <a:r>
              <a:rPr sz="1100" b="0">
                <a:solidFill>
                  <a:srgbClr val="705F44"/>
                </a:solidFill>
                <a:latin typeface="Aptos"/>
              </a:rPr>
              <a:t>Sales and testing data for the Orserdu product</a:t>
            </a:r>
          </a:p>
        </p:txBody>
      </p:sp>
      <p:sp>
        <p:nvSpPr>
          <p:cNvPr id="18" name="Rounded Rectangle 17"/>
          <p:cNvSpPr/>
          <p:nvPr/>
        </p:nvSpPr>
        <p:spPr>
          <a:xfrm>
            <a:off x="635508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343400"/>
            <a:ext cx="5029200" cy="274320"/>
          </a:xfrm>
          <a:prstGeom prst="rect">
            <a:avLst/>
          </a:prstGeom>
          <a:noFill/>
        </p:spPr>
        <p:txBody>
          <a:bodyPr wrap="square" lIns="18288" rIns="18288" tIns="9144" bIns="9144">
            <a:normAutofit/>
          </a:bodyPr>
          <a:lstStyle/>
          <a:p>
            <a:r>
              <a:rPr sz="900" b="1">
                <a:solidFill>
                  <a:srgbClr val="B58930"/>
                </a:solidFill>
                <a:latin typeface="Aptos"/>
              </a:rPr>
              <a:t>OUTCOME</a:t>
            </a:r>
          </a:p>
        </p:txBody>
      </p:sp>
      <p:sp>
        <p:nvSpPr>
          <p:cNvPr id="20" name="TextBox 19"/>
          <p:cNvSpPr txBox="1"/>
          <p:nvPr/>
        </p:nvSpPr>
        <p:spPr>
          <a:xfrm>
            <a:off x="6583680" y="4663440"/>
            <a:ext cx="5029200" cy="1463040"/>
          </a:xfrm>
          <a:prstGeom prst="rect">
            <a:avLst/>
          </a:prstGeom>
          <a:noFill/>
        </p:spPr>
        <p:txBody>
          <a:bodyPr wrap="square" lIns="18288" rIns="18288" tIns="9144" bIns="9144">
            <a:normAutofit/>
          </a:bodyPr>
          <a:lstStyle/>
          <a:p>
            <a:r>
              <a:rPr sz="1100" b="0">
                <a:solidFill>
                  <a:srgbClr val="705F44"/>
                </a:solidFill>
                <a:latin typeface="Aptos"/>
              </a:rPr>
              <a:t>Detailed insights into different HCP segments and their engagement with Orserdu to inform sales enablement strategies.</a:t>
            </a:r>
          </a:p>
        </p:txBody>
      </p:sp>
      <p:sp>
        <p:nvSpPr>
          <p:cNvPr id="21" name="TextBox 20"/>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2" name="TextBox 21"/>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ENGAGEMENT | CLIENT - STEMLINE (US)</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Orserdu Growth Drivers Analysis</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325880"/>
            <a:ext cx="10972800" cy="50292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7315200" cy="320040"/>
          </a:xfrm>
          <a:prstGeom prst="rect">
            <a:avLst/>
          </a:prstGeom>
          <a:noFill/>
        </p:spPr>
        <p:txBody>
          <a:bodyPr wrap="square" lIns="18288" rIns="18288" tIns="9144" bIns="9144">
            <a:normAutofit/>
          </a:bodyPr>
          <a:lstStyle/>
          <a:p>
            <a:r>
              <a:rPr sz="1100" b="1">
                <a:solidFill>
                  <a:srgbClr val="2B2319"/>
                </a:solidFill>
                <a:latin typeface="Aptos"/>
              </a:rPr>
              <a:t>POC: Gaurav</a:t>
            </a:r>
          </a:p>
        </p:txBody>
      </p:sp>
      <p:sp>
        <p:nvSpPr>
          <p:cNvPr id="8" name="TextBox 7"/>
          <p:cNvSpPr txBox="1"/>
          <p:nvPr/>
        </p:nvSpPr>
        <p:spPr>
          <a:xfrm>
            <a:off x="10332720" y="1417320"/>
            <a:ext cx="1143000" cy="320040"/>
          </a:xfrm>
          <a:prstGeom prst="rect">
            <a:avLst/>
          </a:prstGeom>
          <a:noFill/>
        </p:spPr>
        <p:txBody>
          <a:bodyPr wrap="square" lIns="18288" rIns="18288" tIns="9144" bIns="9144">
            <a:normAutofit/>
          </a:bodyPr>
          <a:lstStyle/>
          <a:p>
            <a:pPr algn="r"/>
            <a:r>
              <a:rPr sz="1000" b="1">
                <a:solidFill>
                  <a:srgbClr val="B58930"/>
                </a:solidFill>
                <a:latin typeface="Aptos"/>
              </a:rPr>
              <a:t>Doc 3</a:t>
            </a:r>
          </a:p>
        </p:txBody>
      </p:sp>
      <p:sp>
        <p:nvSpPr>
          <p:cNvPr id="9" name="Rounded Rectangle 8"/>
          <p:cNvSpPr/>
          <p:nvPr/>
        </p:nvSpPr>
        <p:spPr>
          <a:xfrm>
            <a:off x="59436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5029200" cy="274320"/>
          </a:xfrm>
          <a:prstGeom prst="rect">
            <a:avLst/>
          </a:prstGeom>
          <a:noFill/>
        </p:spPr>
        <p:txBody>
          <a:bodyPr wrap="square" lIns="18288" rIns="18288" tIns="9144" bIns="9144">
            <a:normAutofit/>
          </a:bodyPr>
          <a:lstStyle/>
          <a:p>
            <a:r>
              <a:rPr sz="900" b="1">
                <a:solidFill>
                  <a:srgbClr val="B58930"/>
                </a:solidFill>
                <a:latin typeface="Aptos"/>
              </a:rPr>
              <a:t>BUSINESS OBJECTIVE</a:t>
            </a:r>
          </a:p>
        </p:txBody>
      </p:sp>
      <p:sp>
        <p:nvSpPr>
          <p:cNvPr id="11" name="TextBox 10"/>
          <p:cNvSpPr txBox="1"/>
          <p:nvPr/>
        </p:nvSpPr>
        <p:spPr>
          <a:xfrm>
            <a:off x="822960" y="2514600"/>
            <a:ext cx="5029200" cy="1463040"/>
          </a:xfrm>
          <a:prstGeom prst="rect">
            <a:avLst/>
          </a:prstGeom>
          <a:noFill/>
        </p:spPr>
        <p:txBody>
          <a:bodyPr wrap="square" lIns="18288" rIns="18288" tIns="9144" bIns="9144">
            <a:normAutofit/>
          </a:bodyPr>
          <a:lstStyle/>
          <a:p>
            <a:r>
              <a:rPr sz="1100" b="0">
                <a:solidFill>
                  <a:srgbClr val="705F44"/>
                </a:solidFill>
                <a:latin typeface="Aptos"/>
              </a:rPr>
              <a:t>Identify and analyze the key growth drivers for the pharmaceutical product Orserdu to guide optimization efforts.</a:t>
            </a:r>
          </a:p>
        </p:txBody>
      </p:sp>
      <p:sp>
        <p:nvSpPr>
          <p:cNvPr id="12" name="Rounded Rectangle 11"/>
          <p:cNvSpPr/>
          <p:nvPr/>
        </p:nvSpPr>
        <p:spPr>
          <a:xfrm>
            <a:off x="635508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194560"/>
            <a:ext cx="5029200" cy="274320"/>
          </a:xfrm>
          <a:prstGeom prst="rect">
            <a:avLst/>
          </a:prstGeom>
          <a:noFill/>
        </p:spPr>
        <p:txBody>
          <a:bodyPr wrap="square" lIns="18288" rIns="18288" tIns="9144" bIns="9144">
            <a:normAutofit/>
          </a:bodyPr>
          <a:lstStyle/>
          <a:p>
            <a:r>
              <a:rPr sz="900" b="1">
                <a:solidFill>
                  <a:srgbClr val="B58930"/>
                </a:solidFill>
                <a:latin typeface="Aptos"/>
              </a:rPr>
              <a:t>APPROACH</a:t>
            </a:r>
          </a:p>
        </p:txBody>
      </p:sp>
      <p:sp>
        <p:nvSpPr>
          <p:cNvPr id="14" name="TextBox 13"/>
          <p:cNvSpPr txBox="1"/>
          <p:nvPr/>
        </p:nvSpPr>
        <p:spPr>
          <a:xfrm>
            <a:off x="6583680" y="2514600"/>
            <a:ext cx="5029200" cy="1463040"/>
          </a:xfrm>
          <a:prstGeom prst="rect">
            <a:avLst/>
          </a:prstGeom>
          <a:noFill/>
        </p:spPr>
        <p:txBody>
          <a:bodyPr wrap="square" lIns="18288" rIns="18288" tIns="9144" bIns="9144">
            <a:normAutofit/>
          </a:bodyPr>
          <a:lstStyle/>
          <a:p>
            <a:r>
              <a:rPr sz="1100" b="0">
                <a:solidFill>
                  <a:srgbClr val="705F44"/>
                </a:solidFill>
                <a:latin typeface="Aptos"/>
              </a:rPr>
              <a:t>Consolidated and analyzed sales data across channels to segment accounts and identify growth opportunities and strategic focus areas.</a:t>
            </a:r>
          </a:p>
        </p:txBody>
      </p:sp>
      <p:sp>
        <p:nvSpPr>
          <p:cNvPr id="15" name="Rounded Rectangle 14"/>
          <p:cNvSpPr/>
          <p:nvPr/>
        </p:nvSpPr>
        <p:spPr>
          <a:xfrm>
            <a:off x="59436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343400"/>
            <a:ext cx="5029200" cy="274320"/>
          </a:xfrm>
          <a:prstGeom prst="rect">
            <a:avLst/>
          </a:prstGeom>
          <a:noFill/>
        </p:spPr>
        <p:txBody>
          <a:bodyPr wrap="square" lIns="18288" rIns="18288" tIns="9144" bIns="9144">
            <a:normAutofit/>
          </a:bodyPr>
          <a:lstStyle/>
          <a:p>
            <a:r>
              <a:rPr sz="900" b="1">
                <a:solidFill>
                  <a:srgbClr val="B58930"/>
                </a:solidFill>
                <a:latin typeface="Aptos"/>
              </a:rPr>
              <a:t>DATASETS &amp; TOOLS</a:t>
            </a:r>
          </a:p>
        </p:txBody>
      </p:sp>
      <p:sp>
        <p:nvSpPr>
          <p:cNvPr id="17" name="TextBox 16"/>
          <p:cNvSpPr txBox="1"/>
          <p:nvPr/>
        </p:nvSpPr>
        <p:spPr>
          <a:xfrm>
            <a:off x="822960" y="4663440"/>
            <a:ext cx="5029200" cy="1463040"/>
          </a:xfrm>
          <a:prstGeom prst="rect">
            <a:avLst/>
          </a:prstGeom>
          <a:noFill/>
        </p:spPr>
        <p:txBody>
          <a:bodyPr wrap="square" lIns="18288" rIns="18288" tIns="9144" bIns="9144">
            <a:normAutofit/>
          </a:bodyPr>
          <a:lstStyle/>
          <a:p>
            <a:r>
              <a:rPr sz="1100" b="0">
                <a:solidFill>
                  <a:srgbClr val="705F44"/>
                </a:solidFill>
                <a:latin typeface="Aptos"/>
              </a:rPr>
              <a:t>SP+HUB+SD dataset at Corporate Parent Account level, harmonized to Eq units, analyzed monthly and R12M (Nov'24-Oct'25)</a:t>
            </a:r>
          </a:p>
        </p:txBody>
      </p:sp>
      <p:sp>
        <p:nvSpPr>
          <p:cNvPr id="18" name="Rounded Rectangle 17"/>
          <p:cNvSpPr/>
          <p:nvPr/>
        </p:nvSpPr>
        <p:spPr>
          <a:xfrm>
            <a:off x="635508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343400"/>
            <a:ext cx="5029200" cy="274320"/>
          </a:xfrm>
          <a:prstGeom prst="rect">
            <a:avLst/>
          </a:prstGeom>
          <a:noFill/>
        </p:spPr>
        <p:txBody>
          <a:bodyPr wrap="square" lIns="18288" rIns="18288" tIns="9144" bIns="9144">
            <a:normAutofit/>
          </a:bodyPr>
          <a:lstStyle/>
          <a:p>
            <a:r>
              <a:rPr sz="900" b="1">
                <a:solidFill>
                  <a:srgbClr val="B58930"/>
                </a:solidFill>
                <a:latin typeface="Aptos"/>
              </a:rPr>
              <a:t>OUTCOME</a:t>
            </a:r>
          </a:p>
        </p:txBody>
      </p:sp>
      <p:sp>
        <p:nvSpPr>
          <p:cNvPr id="20" name="TextBox 19"/>
          <p:cNvSpPr txBox="1"/>
          <p:nvPr/>
        </p:nvSpPr>
        <p:spPr>
          <a:xfrm>
            <a:off x="6583680" y="4663440"/>
            <a:ext cx="5029200" cy="1463040"/>
          </a:xfrm>
          <a:prstGeom prst="rect">
            <a:avLst/>
          </a:prstGeom>
          <a:noFill/>
        </p:spPr>
        <p:txBody>
          <a:bodyPr wrap="square" lIns="18288" rIns="18288" tIns="9144" bIns="9144">
            <a:normAutofit/>
          </a:bodyPr>
          <a:lstStyle/>
          <a:p>
            <a:r>
              <a:rPr sz="1100" b="0">
                <a:solidFill>
                  <a:srgbClr val="705F44"/>
                </a:solidFill>
                <a:latin typeface="Aptos"/>
              </a:rPr>
              <a:t>Identified key growth drivers across channels, seasonality, territories, and payers with strategic recommendations for community accounts and high-potential territories.</a:t>
            </a:r>
          </a:p>
        </p:txBody>
      </p:sp>
      <p:sp>
        <p:nvSpPr>
          <p:cNvPr id="21" name="TextBox 20"/>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2" name="TextBox 21"/>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EXECUTION STORYLINE</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How We Approached This Work</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1</a:t>
            </a:r>
          </a:p>
        </p:txBody>
      </p:sp>
      <p:sp>
        <p:nvSpPr>
          <p:cNvPr id="8" name="Rectangle 7"/>
          <p:cNvSpPr/>
          <p:nvPr/>
        </p:nvSpPr>
        <p:spPr>
          <a:xfrm>
            <a:off x="149047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Analyzed ESR1 mutation prevalence and treatment patterns using Guardant, Diaceu...</a:t>
            </a:r>
          </a:p>
        </p:txBody>
      </p:sp>
      <p:sp>
        <p:nvSpPr>
          <p:cNvPr id="10" name="Oval 9"/>
          <p:cNvSpPr/>
          <p:nvPr/>
        </p:nvSpPr>
        <p:spPr>
          <a:xfrm>
            <a:off x="301752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6382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2</a:t>
            </a:r>
          </a:p>
        </p:txBody>
      </p:sp>
      <p:sp>
        <p:nvSpPr>
          <p:cNvPr id="12" name="Rectangle 11"/>
          <p:cNvSpPr/>
          <p:nvPr/>
        </p:nvSpPr>
        <p:spPr>
          <a:xfrm>
            <a:off x="363931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Segmented healthcare providers by sales and testing behaviors to inform enablem...</a:t>
            </a:r>
          </a:p>
        </p:txBody>
      </p:sp>
      <p:sp>
        <p:nvSpPr>
          <p:cNvPr id="14" name="Oval 13"/>
          <p:cNvSpPr/>
          <p:nvPr/>
        </p:nvSpPr>
        <p:spPr>
          <a:xfrm>
            <a:off x="516636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1266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3</a:t>
            </a:r>
          </a:p>
        </p:txBody>
      </p:sp>
      <p:sp>
        <p:nvSpPr>
          <p:cNvPr id="16" name="Rectangle 15"/>
          <p:cNvSpPr/>
          <p:nvPr/>
        </p:nvSpPr>
        <p:spPr>
          <a:xfrm>
            <a:off x="578815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176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Identified growth opportunities across SP, HUB, SD channels with territorial pe...</a:t>
            </a:r>
          </a:p>
        </p:txBody>
      </p:sp>
      <p:sp>
        <p:nvSpPr>
          <p:cNvPr id="18" name="Oval 17"/>
          <p:cNvSpPr/>
          <p:nvPr/>
        </p:nvSpPr>
        <p:spPr>
          <a:xfrm>
            <a:off x="731520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4</a:t>
            </a:r>
          </a:p>
        </p:txBody>
      </p:sp>
      <p:sp>
        <p:nvSpPr>
          <p:cNvPr id="20" name="Rectangle 19"/>
          <p:cNvSpPr/>
          <p:nvPr/>
        </p:nvSpPr>
        <p:spPr>
          <a:xfrm>
            <a:off x="793699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5060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Developed comprehensive CONNEX Program attendee database tracking HCP participa...</a:t>
            </a:r>
          </a:p>
        </p:txBody>
      </p:sp>
      <p:sp>
        <p:nvSpPr>
          <p:cNvPr id="22" name="Oval 21"/>
          <p:cNvSpPr/>
          <p:nvPr/>
        </p:nvSpPr>
        <p:spPr>
          <a:xfrm>
            <a:off x="946404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1034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5</a:t>
            </a:r>
          </a:p>
        </p:txBody>
      </p:sp>
      <p:sp>
        <p:nvSpPr>
          <p:cNvPr id="24" name="TextBox 23"/>
          <p:cNvSpPr txBox="1"/>
          <p:nvPr/>
        </p:nvSpPr>
        <p:spPr>
          <a:xfrm>
            <a:off x="929944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Delivered strategic recommendations targeting community accounts and high-poten...</a:t>
            </a:r>
          </a:p>
        </p:txBody>
      </p:sp>
      <p:sp>
        <p:nvSpPr>
          <p:cNvPr id="25" name="TextBox 24"/>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6" name="TextBox 25"/>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REUSABLE PATTERNS</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How to Leverage This</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6766560" cy="4114800"/>
          </a:xfrm>
          <a:prstGeom prst="rect">
            <a:avLst/>
          </a:prstGeom>
          <a:noFill/>
        </p:spPr>
        <p:txBody>
          <a:bodyPr wrap="square" lIns="18288" rIns="45720" tIns="18288" bIns="18288">
            <a:normAutofit/>
          </a:bodyPr>
          <a:lstStyle/>
          <a:p>
            <a:pPr>
              <a:spcAft>
                <a:spcPts val="500"/>
              </a:spcAft>
              <a:defRPr sz="1500">
                <a:solidFill>
                  <a:srgbClr val="2B2319"/>
                </a:solidFill>
                <a:latin typeface="Aptos"/>
              </a:defRPr>
            </a:pPr>
            <a:r>
              <a:t>- Segment HCPs by sales and testing behaviors to optimize field force targeting</a:t>
            </a:r>
          </a:p>
          <a:p>
            <a:pPr>
              <a:spcAft>
                <a:spcPts val="500"/>
              </a:spcAft>
              <a:defRPr sz="1500">
                <a:solidFill>
                  <a:srgbClr val="2B2319"/>
                </a:solidFill>
                <a:latin typeface="Aptos"/>
              </a:defRPr>
            </a:pPr>
            <a:r>
              <a:t>- Analyze mutation prevalence and treatment patterns using multi-source datasets for market sizing</a:t>
            </a:r>
          </a:p>
          <a:p>
            <a:pPr>
              <a:spcAft>
                <a:spcPts val="500"/>
              </a:spcAft>
              <a:defRPr sz="1500">
                <a:solidFill>
                  <a:srgbClr val="2B2319"/>
                </a:solidFill>
                <a:latin typeface="Aptos"/>
              </a:defRPr>
            </a:pPr>
            <a:r>
              <a:t>- Track educational event attendees across regions to measure engagement and ROI</a:t>
            </a:r>
          </a:p>
        </p:txBody>
      </p:sp>
      <p:sp>
        <p:nvSpPr>
          <p:cNvPr id="7" name="Rounded Rectangle 6"/>
          <p:cNvSpPr/>
          <p:nvPr/>
        </p:nvSpPr>
        <p:spPr>
          <a:xfrm>
            <a:off x="7818120" y="1600200"/>
            <a:ext cx="3886200" cy="40690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28431" y="1783080"/>
            <a:ext cx="3520440" cy="320040"/>
          </a:xfrm>
          <a:prstGeom prst="rect">
            <a:avLst/>
          </a:prstGeom>
          <a:noFill/>
        </p:spPr>
        <p:txBody>
          <a:bodyPr wrap="square" lIns="18288" rIns="18288" tIns="9144" bIns="9144">
            <a:normAutofit/>
          </a:bodyPr>
          <a:lstStyle/>
          <a:p>
            <a:r>
              <a:rPr sz="1100" b="1">
                <a:solidFill>
                  <a:srgbClr val="B58930"/>
                </a:solidFill>
                <a:latin typeface="Aptos"/>
              </a:rPr>
              <a:t>How to reuse</a:t>
            </a:r>
          </a:p>
        </p:txBody>
      </p:sp>
      <p:sp>
        <p:nvSpPr>
          <p:cNvPr id="9" name="TextBox 8"/>
          <p:cNvSpPr txBox="1"/>
          <p:nvPr/>
        </p:nvSpPr>
        <p:spPr>
          <a:xfrm>
            <a:off x="8028431" y="2194560"/>
            <a:ext cx="3520440" cy="3246120"/>
          </a:xfrm>
          <a:prstGeom prst="rect">
            <a:avLst/>
          </a:prstGeom>
          <a:noFill/>
        </p:spPr>
        <p:txBody>
          <a:bodyPr wrap="square" lIns="18288" rIns="18288" tIns="9144" bIns="9144">
            <a:normAutofit/>
          </a:bodyPr>
          <a:lstStyle/>
          <a:p>
            <a:r>
              <a:rPr sz="1000" b="0">
                <a:solidFill>
                  <a:srgbClr val="705F44"/>
                </a:solidFill>
                <a:latin typeface="Aptos"/>
              </a:rPr>
              <a:t>Patterns from this engagement that can be lifted directly into the next pharma client conversation.</a:t>
            </a:r>
          </a:p>
        </p:txBody>
      </p:sp>
      <p:sp>
        <p:nvSpPr>
          <p:cNvPr id="10" name="TextBox 9"/>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11" name="TextBox 10"/>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FULL SOURCE LIST</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Appendix: Referenced Documents</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08760"/>
            <a:ext cx="10515600" cy="4389120"/>
          </a:xfrm>
          <a:prstGeom prst="rect">
            <a:avLst/>
          </a:prstGeom>
          <a:noFill/>
        </p:spPr>
        <p:txBody>
          <a:bodyPr wrap="square" lIns="18288" rIns="45720" tIns="18288" bIns="18288">
            <a:normAutofit/>
          </a:bodyPr>
          <a:lstStyle/>
          <a:p>
            <a:pPr>
              <a:spcAft>
                <a:spcPts val="500"/>
              </a:spcAft>
              <a:defRPr sz="1200">
                <a:solidFill>
                  <a:srgbClr val="2B2319"/>
                </a:solidFill>
                <a:latin typeface="Aptos"/>
              </a:defRPr>
            </a:pPr>
            <a:r>
              <a:t>- Doc 1: Client - Stemline (US) | Biolumina Support Data... | Client: Client - Stemline (... | POC: Gaurav</a:t>
            </a:r>
          </a:p>
          <a:p>
            <a:pPr>
              <a:spcAft>
                <a:spcPts val="500"/>
              </a:spcAft>
              <a:defRPr sz="1200">
                <a:solidFill>
                  <a:srgbClr val="2B2319"/>
                </a:solidFill>
                <a:latin typeface="Aptos"/>
              </a:defRPr>
            </a:pPr>
            <a:r>
              <a:t>- Doc 2: Client - Stemline (US) | ORS Segment HCPs with... | Client: Client - Stemline (... | POC: Gaurav</a:t>
            </a:r>
          </a:p>
          <a:p>
            <a:pPr>
              <a:spcAft>
                <a:spcPts val="500"/>
              </a:spcAft>
              <a:defRPr sz="1200">
                <a:solidFill>
                  <a:srgbClr val="2B2319"/>
                </a:solidFill>
                <a:latin typeface="Aptos"/>
              </a:defRPr>
            </a:pPr>
            <a:r>
              <a:t>- Doc 3: Client - Stemline (US) | ORS Growth Drivers 202... | Client: Client - Stemline (... | POC: Gaurav</a:t>
            </a:r>
          </a:p>
          <a:p>
            <a:pPr>
              <a:spcAft>
                <a:spcPts val="500"/>
              </a:spcAft>
              <a:defRPr sz="1200">
                <a:solidFill>
                  <a:srgbClr val="2B2319"/>
                </a:solidFill>
                <a:latin typeface="Aptos"/>
              </a:defRPr>
            </a:pPr>
            <a:r>
              <a:t>- Doc 4: Client - Stemline (US) | Stemline Orserdu CONNE... | Client: Client - Stemline (... | POC: Gaurav</a:t>
            </a:r>
          </a:p>
        </p:txBody>
      </p:sp>
      <p:sp>
        <p:nvSpPr>
          <p:cNvPr id="7" name="TextBox 6"/>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8" name="TextBox 7"/>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