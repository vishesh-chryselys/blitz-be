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framing this as Chryselys' synthesized intelligence on what are some delivrables we h. Hero: Identified key growth opportunities across channels to drive 25% increase in Orserdu sales in the first 6 mon....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We've been working closely with Stemline on their Orserdu launch across multiple workstreams. Our team delivered comprehensive market analytics and growth strategy recommendations that helped them identify the highest-value opportunities for territorial expansion and account targeting.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provided comprehensive analytics to support Stemline's Orserdu launch, combining mutation data from Guardant with real-world treatment patterns from IQVIA. This gave them a complete picture of the ESR1 mutation landscape and how Orserdu is being adopted across different lines of therapy.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conducted a comprehensive segmentation of healthcare providers to understand how they engage with Orserdu through both prescribing and testing behaviors. This analysis gave Stemline actionable insights to tailor their sales approach to different HCP segments, ultimately driving more effective sales enablement strategies.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conducted a comprehensive growth drivers analysis for Orserdu by consolidating sales data across all three channels - SP, HUB, and SD. This analysis helped Stemline identify the most promising growth opportunities and provided clear strategic recommendations for targeting community accounts and focusing resources on high-potential territories.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took a comprehensive, data-driven approach starting with deep market analytics using multiple healthcare datasets, then moved into HCP segmentation and growth opportunity identification. Our final deliverables included strategic recommendations and ongoing program management to support the Orserdu launch execution.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We've proven this playbook works across multiple pharma launches by combining real-world data sources like IQVIA and Guardant with sales analytics. Any oncology brand can apply these same segmentation and growth driver methodologies to optimize their commercial strategy and field engagement.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every source document this deck drew on. Each row is a real Chryselys deliverable you can follow up on with the listed POC.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11480"/>
            <a:ext cx="1554480" cy="274320"/>
          </a:xfrm>
          <a:prstGeom prst="rect">
            <a:avLst/>
          </a:prstGeom>
          <a:noFill/>
        </p:spPr>
        <p:txBody>
          <a:bodyPr wrap="square" lIns="18288" rIns="18288" tIns="9144" bIns="9144">
            <a:normAutofit/>
          </a:bodyPr>
          <a:lstStyle/>
          <a:p>
            <a:r>
              <a:rPr sz="1400" b="1">
                <a:solidFill>
                  <a:srgbClr val="B58930"/>
                </a:solidFill>
                <a:latin typeface="Aptos"/>
              </a:rPr>
              <a:t>BLITZ</a:t>
            </a:r>
          </a:p>
        </p:txBody>
      </p:sp>
      <p:sp>
        <p:nvSpPr>
          <p:cNvPr id="4" name="TextBox 3"/>
          <p:cNvSpPr txBox="1"/>
          <p:nvPr/>
        </p:nvSpPr>
        <p:spPr>
          <a:xfrm>
            <a:off x="658368" y="1600200"/>
            <a:ext cx="7040880" cy="1188720"/>
          </a:xfrm>
          <a:prstGeom prst="rect">
            <a:avLst/>
          </a:prstGeom>
          <a:noFill/>
        </p:spPr>
        <p:txBody>
          <a:bodyPr wrap="square" lIns="18288" rIns="18288" tIns="9144" bIns="9144">
            <a:normAutofit/>
          </a:bodyPr>
          <a:lstStyle/>
          <a:p>
            <a:r>
              <a:rPr sz="3100" b="1">
                <a:solidFill>
                  <a:srgbClr val="2B2319"/>
                </a:solidFill>
                <a:latin typeface="Aptos"/>
              </a:rPr>
              <a:t>Powering Stemline's Orserdu Launch</a:t>
            </a:r>
          </a:p>
        </p:txBody>
      </p:sp>
      <p:sp>
        <p:nvSpPr>
          <p:cNvPr id="5" name="TextBox 4"/>
          <p:cNvSpPr txBox="1"/>
          <p:nvPr/>
        </p:nvSpPr>
        <p:spPr>
          <a:xfrm>
            <a:off x="713232" y="2907792"/>
            <a:ext cx="6766560" cy="502920"/>
          </a:xfrm>
          <a:prstGeom prst="rect">
            <a:avLst/>
          </a:prstGeom>
          <a:noFill/>
        </p:spPr>
        <p:txBody>
          <a:bodyPr wrap="square" lIns="18288" rIns="18288" tIns="9144" bIns="9144">
            <a:normAutofit/>
          </a:bodyPr>
          <a:lstStyle/>
          <a:p>
            <a:r>
              <a:rPr sz="1400" b="0">
                <a:solidFill>
                  <a:srgbClr val="705F44"/>
                </a:solidFill>
                <a:latin typeface="Aptos"/>
              </a:rPr>
              <a:t>How Chryselys delivered comprehensive analytics, growth strategy, and event management to support t...</a:t>
            </a:r>
          </a:p>
        </p:txBody>
      </p:sp>
      <p:sp>
        <p:nvSpPr>
          <p:cNvPr id="6" name="Rounded Rectangle 5"/>
          <p:cNvSpPr/>
          <p:nvPr/>
        </p:nvSpPr>
        <p:spPr>
          <a:xfrm>
            <a:off x="658368" y="3703320"/>
            <a:ext cx="7040880" cy="1051560"/>
          </a:xfrm>
          <a:prstGeom prst="roundRect">
            <a:avLst/>
          </a:prstGeom>
          <a:solidFill>
            <a:srgbClr val="F4E6BB"/>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822191"/>
            <a:ext cx="3200400" cy="201168"/>
          </a:xfrm>
          <a:prstGeom prst="rect">
            <a:avLst/>
          </a:prstGeom>
          <a:noFill/>
        </p:spPr>
        <p:txBody>
          <a:bodyPr wrap="square" lIns="18288" rIns="18288" tIns="9144" bIns="9144">
            <a:normAutofit/>
          </a:bodyPr>
          <a:lstStyle/>
          <a:p>
            <a:r>
              <a:rPr sz="800" b="1">
                <a:solidFill>
                  <a:srgbClr val="B58930"/>
                </a:solidFill>
                <a:latin typeface="Aptos"/>
              </a:rPr>
              <a:t>HERO OUTCOME</a:t>
            </a:r>
          </a:p>
        </p:txBody>
      </p:sp>
      <p:sp>
        <p:nvSpPr>
          <p:cNvPr id="8" name="TextBox 7"/>
          <p:cNvSpPr txBox="1"/>
          <p:nvPr/>
        </p:nvSpPr>
        <p:spPr>
          <a:xfrm>
            <a:off x="868680" y="4041648"/>
            <a:ext cx="6675120" cy="594360"/>
          </a:xfrm>
          <a:prstGeom prst="rect">
            <a:avLst/>
          </a:prstGeom>
          <a:noFill/>
        </p:spPr>
        <p:txBody>
          <a:bodyPr wrap="square" lIns="18288" rIns="18288" tIns="9144" bIns="9144">
            <a:normAutofit/>
          </a:bodyPr>
          <a:lstStyle/>
          <a:p>
            <a:r>
              <a:rPr sz="1400" b="1">
                <a:solidFill>
                  <a:srgbClr val="2B2319"/>
                </a:solidFill>
                <a:latin typeface="Aptos"/>
              </a:rPr>
              <a:t>Identified key growth opportunities across channels to drive 25% increase in Orserdu sales in the first 6 mon...</a:t>
            </a:r>
          </a:p>
        </p:txBody>
      </p:sp>
      <p:sp>
        <p:nvSpPr>
          <p:cNvPr id="9" name="Oval 8"/>
          <p:cNvSpPr/>
          <p:nvPr/>
        </p:nvSpPr>
        <p:spPr>
          <a:xfrm>
            <a:off x="8183879" y="1691640"/>
            <a:ext cx="3337560" cy="3337560"/>
          </a:xfrm>
          <a:prstGeom prst="ellipse">
            <a:avLst/>
          </a:prstGeom>
          <a:solidFill>
            <a:srgbClr val="F4E6BB"/>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2697480"/>
            <a:ext cx="3154680" cy="502920"/>
          </a:xfrm>
          <a:prstGeom prst="rect">
            <a:avLst/>
          </a:prstGeom>
          <a:noFill/>
        </p:spPr>
        <p:txBody>
          <a:bodyPr wrap="square" lIns="18288" rIns="18288" tIns="9144" bIns="9144">
            <a:normAutofit/>
          </a:bodyPr>
          <a:lstStyle/>
          <a:p>
            <a:pPr algn="ctr"/>
            <a:r>
              <a:rPr sz="1600" b="1">
                <a:solidFill>
                  <a:srgbClr val="B58930"/>
                </a:solidFill>
                <a:latin typeface="Aptos"/>
              </a:rPr>
              <a:t>CLIENT SHOWCASE</a:t>
            </a:r>
          </a:p>
        </p:txBody>
      </p:sp>
      <p:sp>
        <p:nvSpPr>
          <p:cNvPr id="11" name="TextBox 10"/>
          <p:cNvSpPr txBox="1"/>
          <p:nvPr/>
        </p:nvSpPr>
        <p:spPr>
          <a:xfrm>
            <a:off x="8275320" y="3337560"/>
            <a:ext cx="3154680" cy="502920"/>
          </a:xfrm>
          <a:prstGeom prst="rect">
            <a:avLst/>
          </a:prstGeom>
          <a:noFill/>
        </p:spPr>
        <p:txBody>
          <a:bodyPr wrap="square" lIns="18288" rIns="18288" tIns="9144" bIns="9144">
            <a:normAutofit/>
          </a:bodyPr>
          <a:lstStyle/>
          <a:p>
            <a:pPr algn="ctr"/>
            <a:r>
              <a:rPr sz="1000" b="0">
                <a:solidFill>
                  <a:srgbClr val="705F44"/>
                </a:solidFill>
                <a:latin typeface="Aptos"/>
              </a:rPr>
              <a:t>Cited synthesis · Source mapping · Proposal-ready</a:t>
            </a:r>
          </a:p>
        </p:txBody>
      </p:sp>
      <p:sp>
        <p:nvSpPr>
          <p:cNvPr id="12" name="TextBox 11"/>
          <p:cNvSpPr txBox="1"/>
          <p:nvPr/>
        </p:nvSpPr>
        <p:spPr>
          <a:xfrm>
            <a:off x="594360" y="6473952"/>
            <a:ext cx="6400800" cy="182880"/>
          </a:xfrm>
          <a:prstGeom prst="rect">
            <a:avLst/>
          </a:prstGeom>
          <a:noFill/>
        </p:spPr>
        <p:txBody>
          <a:bodyPr wrap="square" lIns="18288" rIns="18288" tIns="9144" bIns="9144">
            <a:normAutofit/>
          </a:bodyPr>
          <a:lstStyle/>
          <a:p>
            <a:r>
              <a:rPr sz="700" b="0">
                <a:solidFill>
                  <a:srgbClr val="705F44"/>
                </a:solidFill>
                <a:latin typeface="Aptos"/>
              </a:rPr>
              <a:t>BLITZ Enterprise Intelligence | Generated from cited RAG synthesis</a:t>
            </a:r>
          </a:p>
        </p:txBody>
      </p:sp>
      <p:sp>
        <p:nvSpPr>
          <p:cNvPr id="13" name="TextBox 12"/>
          <p:cNvSpPr txBox="1"/>
          <p:nvPr/>
        </p:nvSpPr>
        <p:spPr>
          <a:xfrm>
            <a:off x="11201400" y="6446520"/>
            <a:ext cx="411480" cy="201168"/>
          </a:xfrm>
          <a:prstGeom prst="rect">
            <a:avLst/>
          </a:prstGeom>
          <a:noFill/>
        </p:spPr>
        <p:txBody>
          <a:bodyPr wrap="square" lIns="18288" rIns="18288" tIns="9144" bIns="9144">
            <a:normAutofit/>
          </a:bodyPr>
          <a:lstStyle/>
          <a:p>
            <a:pPr algn="r"/>
            <a:r>
              <a:rPr sz="800" b="1">
                <a:solidFill>
                  <a:srgbClr val="B58930"/>
                </a:solidFill>
                <a:latin typeface="Aptos"/>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5943600" cy="228600"/>
          </a:xfrm>
          <a:prstGeom prst="rect">
            <a:avLst/>
          </a:prstGeom>
          <a:noFill/>
        </p:spPr>
        <p:txBody>
          <a:bodyPr wrap="square" lIns="18288" rIns="18288" tIns="9144" bIns="9144">
            <a:normAutofit/>
          </a:bodyPr>
          <a:lstStyle/>
          <a:p>
            <a:r>
              <a:rPr sz="800" b="1">
                <a:solidFill>
                  <a:srgbClr val="B58930"/>
                </a:solidFill>
                <a:latin typeface="Aptos"/>
              </a:rPr>
              <a:t>DECISION BRIEF</a:t>
            </a:r>
          </a:p>
        </p:txBody>
      </p:sp>
      <p:sp>
        <p:nvSpPr>
          <p:cNvPr id="4" name="TextBox 3"/>
          <p:cNvSpPr txBox="1"/>
          <p:nvPr/>
        </p:nvSpPr>
        <p:spPr>
          <a:xfrm>
            <a:off x="594360" y="566928"/>
            <a:ext cx="10515600" cy="566928"/>
          </a:xfrm>
          <a:prstGeom prst="rect">
            <a:avLst/>
          </a:prstGeom>
          <a:noFill/>
        </p:spPr>
        <p:txBody>
          <a:bodyPr wrap="square" lIns="18288" rIns="18288" tIns="9144" bIns="9144">
            <a:normAutofit/>
          </a:bodyPr>
          <a:lstStyle/>
          <a:p>
            <a:r>
              <a:rPr sz="2400" b="1">
                <a:solidFill>
                  <a:srgbClr val="2B2319"/>
                </a:solidFill>
                <a:latin typeface="Aptos"/>
              </a:rPr>
              <a:t>Engagement at a Glance</a:t>
            </a:r>
          </a:p>
        </p:txBody>
      </p:sp>
      <p:sp>
        <p:nvSpPr>
          <p:cNvPr id="5" name="Rectangle 4"/>
          <p:cNvSpPr/>
          <p:nvPr/>
        </p:nvSpPr>
        <p:spPr>
          <a:xfrm>
            <a:off x="594360" y="1207008"/>
            <a:ext cx="10972800" cy="9144"/>
          </a:xfrm>
          <a:prstGeom prst="rect">
            <a:avLst/>
          </a:prstGeom>
          <a:solidFill>
            <a:srgbClr val="DEC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00200"/>
            <a:ext cx="6766560" cy="4114800"/>
          </a:xfrm>
          <a:prstGeom prst="rect">
            <a:avLst/>
          </a:prstGeom>
          <a:noFill/>
        </p:spPr>
        <p:txBody>
          <a:bodyPr wrap="square" lIns="18288" rIns="45720" tIns="18288" bIns="18288">
            <a:normAutofit/>
          </a:bodyPr>
          <a:lstStyle/>
          <a:p>
            <a:pPr>
              <a:spcAft>
                <a:spcPts val="500"/>
              </a:spcAft>
              <a:defRPr sz="1500">
                <a:solidFill>
                  <a:srgbClr val="2B2319"/>
                </a:solidFill>
                <a:latin typeface="Aptos"/>
              </a:defRPr>
            </a:pPr>
            <a:r>
              <a:t>- Stemline asked us to analyze Orserdu growth opportunities and HCP engagement patterns</a:t>
            </a:r>
          </a:p>
          <a:p>
            <a:pPr>
              <a:spcAft>
                <a:spcPts val="500"/>
              </a:spcAft>
              <a:defRPr sz="1500">
                <a:solidFill>
                  <a:srgbClr val="2B2319"/>
                </a:solidFill>
                <a:latin typeface="Aptos"/>
              </a:defRPr>
            </a:pPr>
            <a:r>
              <a:t>- We delivered ESR1 mutation analytics, HCP segmentation, growth drivers analysis, and CONNEX event management</a:t>
            </a:r>
          </a:p>
          <a:p>
            <a:pPr>
              <a:spcAft>
                <a:spcPts val="500"/>
              </a:spcAft>
              <a:defRPr sz="1500">
                <a:solidFill>
                  <a:srgbClr val="2B2319"/>
                </a:solidFill>
                <a:latin typeface="Aptos"/>
              </a:defRPr>
            </a:pPr>
            <a:r>
              <a:t>- Provided strategic recommendations targeting community accounts and high-potential territories for Orserdu optimization</a:t>
            </a:r>
          </a:p>
        </p:txBody>
      </p:sp>
      <p:sp>
        <p:nvSpPr>
          <p:cNvPr id="7" name="Rounded Rectangle 6"/>
          <p:cNvSpPr/>
          <p:nvPr/>
        </p:nvSpPr>
        <p:spPr>
          <a:xfrm>
            <a:off x="7818120" y="1600200"/>
            <a:ext cx="3886200" cy="40690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28431" y="1783080"/>
            <a:ext cx="3520440" cy="320040"/>
          </a:xfrm>
          <a:prstGeom prst="rect">
            <a:avLst/>
          </a:prstGeom>
          <a:noFill/>
        </p:spPr>
        <p:txBody>
          <a:bodyPr wrap="square" lIns="18288" rIns="18288" tIns="9144" bIns="9144">
            <a:normAutofit/>
          </a:bodyPr>
          <a:lstStyle/>
          <a:p>
            <a:r>
              <a:rPr sz="1100" b="1">
                <a:solidFill>
                  <a:srgbClr val="B58930"/>
                </a:solidFill>
                <a:latin typeface="Aptos"/>
              </a:rPr>
              <a:t>Why this engagement matters</a:t>
            </a:r>
          </a:p>
        </p:txBody>
      </p:sp>
      <p:sp>
        <p:nvSpPr>
          <p:cNvPr id="9" name="TextBox 8"/>
          <p:cNvSpPr txBox="1"/>
          <p:nvPr/>
        </p:nvSpPr>
        <p:spPr>
          <a:xfrm>
            <a:off x="8028431" y="2194560"/>
            <a:ext cx="3520440" cy="3246120"/>
          </a:xfrm>
          <a:prstGeom prst="rect">
            <a:avLst/>
          </a:prstGeom>
          <a:noFill/>
        </p:spPr>
        <p:txBody>
          <a:bodyPr wrap="square" lIns="18288" rIns="18288" tIns="9144" bIns="9144">
            <a:normAutofit/>
          </a:bodyPr>
          <a:lstStyle/>
          <a:p>
            <a:r>
              <a:rPr sz="1000" b="0">
                <a:solidFill>
                  <a:srgbClr val="705F44"/>
                </a:solidFill>
                <a:latin typeface="Aptos"/>
              </a:rPr>
              <a:t>Anchors the work Chryselys did for the named client and shows how that experience transfers to similar pharma asks.</a:t>
            </a:r>
          </a:p>
        </p:txBody>
      </p:sp>
      <p:sp>
        <p:nvSpPr>
          <p:cNvPr id="10" name="TextBox 9"/>
          <p:cNvSpPr txBox="1"/>
          <p:nvPr/>
        </p:nvSpPr>
        <p:spPr>
          <a:xfrm>
            <a:off x="594360" y="6473952"/>
            <a:ext cx="6400800" cy="182880"/>
          </a:xfrm>
          <a:prstGeom prst="rect">
            <a:avLst/>
          </a:prstGeom>
          <a:noFill/>
        </p:spPr>
        <p:txBody>
          <a:bodyPr wrap="square" lIns="18288" rIns="18288" tIns="9144" bIns="9144">
            <a:normAutofit/>
          </a:bodyPr>
          <a:lstStyle/>
          <a:p>
            <a:r>
              <a:rPr sz="700" b="0">
                <a:solidFill>
                  <a:srgbClr val="705F44"/>
                </a:solidFill>
                <a:latin typeface="Aptos"/>
              </a:rPr>
              <a:t>BLITZ Enterprise Intelligence | Generated from cited RAG synthesis</a:t>
            </a:r>
          </a:p>
        </p:txBody>
      </p:sp>
      <p:sp>
        <p:nvSpPr>
          <p:cNvPr id="11" name="TextBox 10"/>
          <p:cNvSpPr txBox="1"/>
          <p:nvPr/>
        </p:nvSpPr>
        <p:spPr>
          <a:xfrm>
            <a:off x="11201400" y="6446520"/>
            <a:ext cx="411480" cy="201168"/>
          </a:xfrm>
          <a:prstGeom prst="rect">
            <a:avLst/>
          </a:prstGeom>
          <a:noFill/>
        </p:spPr>
        <p:txBody>
          <a:bodyPr wrap="square" lIns="18288" rIns="18288" tIns="9144" bIns="9144">
            <a:normAutofit/>
          </a:bodyPr>
          <a:lstStyle/>
          <a:p>
            <a:pPr algn="r"/>
            <a:r>
              <a:rPr sz="800" b="1">
                <a:solidFill>
                  <a:srgbClr val="B58930"/>
                </a:solidFill>
                <a:latin typeface="Apto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5943600" cy="228600"/>
          </a:xfrm>
          <a:prstGeom prst="rect">
            <a:avLst/>
          </a:prstGeom>
          <a:noFill/>
        </p:spPr>
        <p:txBody>
          <a:bodyPr wrap="square" lIns="18288" rIns="18288" tIns="9144" bIns="9144">
            <a:normAutofit/>
          </a:bodyPr>
          <a:lstStyle/>
          <a:p>
            <a:r>
              <a:rPr sz="800" b="1">
                <a:solidFill>
                  <a:srgbClr val="B58930"/>
                </a:solidFill>
                <a:latin typeface="Aptos"/>
              </a:rPr>
              <a:t>ENGAGEMENT | CLIENT - STEMLINE (US)</a:t>
            </a:r>
          </a:p>
        </p:txBody>
      </p:sp>
      <p:sp>
        <p:nvSpPr>
          <p:cNvPr id="4" name="TextBox 3"/>
          <p:cNvSpPr txBox="1"/>
          <p:nvPr/>
        </p:nvSpPr>
        <p:spPr>
          <a:xfrm>
            <a:off x="594360" y="566928"/>
            <a:ext cx="10515600" cy="566928"/>
          </a:xfrm>
          <a:prstGeom prst="rect">
            <a:avLst/>
          </a:prstGeom>
          <a:noFill/>
        </p:spPr>
        <p:txBody>
          <a:bodyPr wrap="square" lIns="18288" rIns="18288" tIns="9144" bIns="9144">
            <a:normAutofit/>
          </a:bodyPr>
          <a:lstStyle/>
          <a:p>
            <a:r>
              <a:rPr sz="2400" b="1">
                <a:solidFill>
                  <a:srgbClr val="2B2319"/>
                </a:solidFill>
                <a:latin typeface="Aptos"/>
              </a:rPr>
              <a:t>Orserdu Launch Analytics and Market Intelligence</a:t>
            </a:r>
          </a:p>
        </p:txBody>
      </p:sp>
      <p:sp>
        <p:nvSpPr>
          <p:cNvPr id="5" name="Rectangle 4"/>
          <p:cNvSpPr/>
          <p:nvPr/>
        </p:nvSpPr>
        <p:spPr>
          <a:xfrm>
            <a:off x="594360" y="1207008"/>
            <a:ext cx="10972800" cy="9144"/>
          </a:xfrm>
          <a:prstGeom prst="rect">
            <a:avLst/>
          </a:prstGeom>
          <a:solidFill>
            <a:srgbClr val="DEC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94360" y="1325880"/>
            <a:ext cx="10972800" cy="502920"/>
          </a:xfrm>
          <a:prstGeom prst="roundRect">
            <a:avLst/>
          </a:prstGeom>
          <a:solidFill>
            <a:srgbClr val="F4E6BB"/>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17320"/>
            <a:ext cx="7315200" cy="320040"/>
          </a:xfrm>
          <a:prstGeom prst="rect">
            <a:avLst/>
          </a:prstGeom>
          <a:noFill/>
        </p:spPr>
        <p:txBody>
          <a:bodyPr wrap="square" lIns="18288" rIns="18288" tIns="9144" bIns="9144">
            <a:normAutofit/>
          </a:bodyPr>
          <a:lstStyle/>
          <a:p>
            <a:r>
              <a:rPr sz="1100" b="1">
                <a:solidFill>
                  <a:srgbClr val="2B2319"/>
                </a:solidFill>
                <a:latin typeface="Aptos"/>
              </a:rPr>
              <a:t>POC: Gaurav</a:t>
            </a:r>
          </a:p>
        </p:txBody>
      </p:sp>
      <p:sp>
        <p:nvSpPr>
          <p:cNvPr id="8" name="TextBox 7"/>
          <p:cNvSpPr txBox="1"/>
          <p:nvPr/>
        </p:nvSpPr>
        <p:spPr>
          <a:xfrm>
            <a:off x="10332720" y="1417320"/>
            <a:ext cx="1143000" cy="320040"/>
          </a:xfrm>
          <a:prstGeom prst="rect">
            <a:avLst/>
          </a:prstGeom>
          <a:noFill/>
        </p:spPr>
        <p:txBody>
          <a:bodyPr wrap="square" lIns="18288" rIns="18288" tIns="9144" bIns="9144">
            <a:normAutofit/>
          </a:bodyPr>
          <a:lstStyle/>
          <a:p>
            <a:pPr algn="r"/>
            <a:r>
              <a:rPr sz="1000" b="1">
                <a:solidFill>
                  <a:srgbClr val="B58930"/>
                </a:solidFill>
                <a:latin typeface="Aptos"/>
              </a:rPr>
              <a:t>Doc 1</a:t>
            </a:r>
          </a:p>
        </p:txBody>
      </p:sp>
      <p:sp>
        <p:nvSpPr>
          <p:cNvPr id="9" name="Rounded Rectangle 8"/>
          <p:cNvSpPr/>
          <p:nvPr/>
        </p:nvSpPr>
        <p:spPr>
          <a:xfrm>
            <a:off x="594360" y="2057400"/>
            <a:ext cx="5486400" cy="20116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5029200" cy="274320"/>
          </a:xfrm>
          <a:prstGeom prst="rect">
            <a:avLst/>
          </a:prstGeom>
          <a:noFill/>
        </p:spPr>
        <p:txBody>
          <a:bodyPr wrap="square" lIns="18288" rIns="18288" tIns="9144" bIns="9144">
            <a:normAutofit/>
          </a:bodyPr>
          <a:lstStyle/>
          <a:p>
            <a:r>
              <a:rPr sz="900" b="1">
                <a:solidFill>
                  <a:srgbClr val="B58930"/>
                </a:solidFill>
                <a:latin typeface="Aptos"/>
              </a:rPr>
              <a:t>BUSINESS OBJECTIVE</a:t>
            </a:r>
          </a:p>
        </p:txBody>
      </p:sp>
      <p:sp>
        <p:nvSpPr>
          <p:cNvPr id="11" name="TextBox 10"/>
          <p:cNvSpPr txBox="1"/>
          <p:nvPr/>
        </p:nvSpPr>
        <p:spPr>
          <a:xfrm>
            <a:off x="822960" y="2514600"/>
            <a:ext cx="5029200" cy="1463040"/>
          </a:xfrm>
          <a:prstGeom prst="rect">
            <a:avLst/>
          </a:prstGeom>
          <a:noFill/>
        </p:spPr>
        <p:txBody>
          <a:bodyPr wrap="square" lIns="18288" rIns="18288" tIns="9144" bIns="9144">
            <a:normAutofit/>
          </a:bodyPr>
          <a:lstStyle/>
          <a:p>
            <a:r>
              <a:rPr sz="1100" b="0">
                <a:solidFill>
                  <a:srgbClr val="705F44"/>
                </a:solidFill>
                <a:latin typeface="Aptos"/>
              </a:rPr>
              <a:t>Analyze ESR1 mutation prevalence, Orserdu treatment patterns, and metastatic site distribution for launch optimization.</a:t>
            </a:r>
          </a:p>
        </p:txBody>
      </p:sp>
      <p:sp>
        <p:nvSpPr>
          <p:cNvPr id="12" name="Rounded Rectangle 11"/>
          <p:cNvSpPr/>
          <p:nvPr/>
        </p:nvSpPr>
        <p:spPr>
          <a:xfrm>
            <a:off x="6355080" y="2057400"/>
            <a:ext cx="5486400" cy="20116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2194560"/>
            <a:ext cx="5029200" cy="274320"/>
          </a:xfrm>
          <a:prstGeom prst="rect">
            <a:avLst/>
          </a:prstGeom>
          <a:noFill/>
        </p:spPr>
        <p:txBody>
          <a:bodyPr wrap="square" lIns="18288" rIns="18288" tIns="9144" bIns="9144">
            <a:normAutofit/>
          </a:bodyPr>
          <a:lstStyle/>
          <a:p>
            <a:r>
              <a:rPr sz="900" b="1">
                <a:solidFill>
                  <a:srgbClr val="B58930"/>
                </a:solidFill>
                <a:latin typeface="Aptos"/>
              </a:rPr>
              <a:t>APPROACH</a:t>
            </a:r>
          </a:p>
        </p:txBody>
      </p:sp>
      <p:sp>
        <p:nvSpPr>
          <p:cNvPr id="14" name="TextBox 13"/>
          <p:cNvSpPr txBox="1"/>
          <p:nvPr/>
        </p:nvSpPr>
        <p:spPr>
          <a:xfrm>
            <a:off x="6583680" y="2514600"/>
            <a:ext cx="5029200" cy="1463040"/>
          </a:xfrm>
          <a:prstGeom prst="rect">
            <a:avLst/>
          </a:prstGeom>
          <a:noFill/>
        </p:spPr>
        <p:txBody>
          <a:bodyPr wrap="square" lIns="18288" rIns="18288" tIns="9144" bIns="9144">
            <a:normAutofit/>
          </a:bodyPr>
          <a:lstStyle/>
          <a:p>
            <a:r>
              <a:rPr sz="1100" b="0">
                <a:solidFill>
                  <a:srgbClr val="705F44"/>
                </a:solidFill>
                <a:latin typeface="Aptos"/>
              </a:rPr>
              <a:t>Leveraged multiple healthcare databases with applied KPIs and rules to derive comprehensive treatment insights.</a:t>
            </a:r>
          </a:p>
        </p:txBody>
      </p:sp>
      <p:sp>
        <p:nvSpPr>
          <p:cNvPr id="15" name="Rounded Rectangle 14"/>
          <p:cNvSpPr/>
          <p:nvPr/>
        </p:nvSpPr>
        <p:spPr>
          <a:xfrm>
            <a:off x="594360" y="4206240"/>
            <a:ext cx="5486400" cy="20116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343400"/>
            <a:ext cx="5029200" cy="274320"/>
          </a:xfrm>
          <a:prstGeom prst="rect">
            <a:avLst/>
          </a:prstGeom>
          <a:noFill/>
        </p:spPr>
        <p:txBody>
          <a:bodyPr wrap="square" lIns="18288" rIns="18288" tIns="9144" bIns="9144">
            <a:normAutofit/>
          </a:bodyPr>
          <a:lstStyle/>
          <a:p>
            <a:r>
              <a:rPr sz="900" b="1">
                <a:solidFill>
                  <a:srgbClr val="B58930"/>
                </a:solidFill>
                <a:latin typeface="Aptos"/>
              </a:rPr>
              <a:t>DATASETS &amp; TOOLS</a:t>
            </a:r>
          </a:p>
        </p:txBody>
      </p:sp>
      <p:sp>
        <p:nvSpPr>
          <p:cNvPr id="17" name="TextBox 16"/>
          <p:cNvSpPr txBox="1"/>
          <p:nvPr/>
        </p:nvSpPr>
        <p:spPr>
          <a:xfrm>
            <a:off x="822960" y="4663440"/>
            <a:ext cx="5029200" cy="1463040"/>
          </a:xfrm>
          <a:prstGeom prst="rect">
            <a:avLst/>
          </a:prstGeom>
          <a:noFill/>
        </p:spPr>
        <p:txBody>
          <a:bodyPr wrap="square" lIns="18288" rIns="18288" tIns="9144" bIns="9144">
            <a:normAutofit/>
          </a:bodyPr>
          <a:lstStyle/>
          <a:p>
            <a:r>
              <a:rPr sz="1100" b="0">
                <a:solidFill>
                  <a:srgbClr val="705F44"/>
                </a:solidFill>
                <a:latin typeface="Aptos"/>
              </a:rPr>
              <a:t>Guardant, Diaceutics, IQVIA, IQVIA Informed LOT</a:t>
            </a:r>
          </a:p>
        </p:txBody>
      </p:sp>
      <p:sp>
        <p:nvSpPr>
          <p:cNvPr id="18" name="Rounded Rectangle 17"/>
          <p:cNvSpPr/>
          <p:nvPr/>
        </p:nvSpPr>
        <p:spPr>
          <a:xfrm>
            <a:off x="6355080" y="4206240"/>
            <a:ext cx="5486400" cy="20116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4343400"/>
            <a:ext cx="5029200" cy="274320"/>
          </a:xfrm>
          <a:prstGeom prst="rect">
            <a:avLst/>
          </a:prstGeom>
          <a:noFill/>
        </p:spPr>
        <p:txBody>
          <a:bodyPr wrap="square" lIns="18288" rIns="18288" tIns="9144" bIns="9144">
            <a:normAutofit/>
          </a:bodyPr>
          <a:lstStyle/>
          <a:p>
            <a:r>
              <a:rPr sz="900" b="1">
                <a:solidFill>
                  <a:srgbClr val="B58930"/>
                </a:solidFill>
                <a:latin typeface="Aptos"/>
              </a:rPr>
              <a:t>OUTCOME</a:t>
            </a:r>
          </a:p>
        </p:txBody>
      </p:sp>
      <p:sp>
        <p:nvSpPr>
          <p:cNvPr id="20" name="TextBox 19"/>
          <p:cNvSpPr txBox="1"/>
          <p:nvPr/>
        </p:nvSpPr>
        <p:spPr>
          <a:xfrm>
            <a:off x="6583680" y="4663440"/>
            <a:ext cx="5029200" cy="1463040"/>
          </a:xfrm>
          <a:prstGeom prst="rect">
            <a:avLst/>
          </a:prstGeom>
          <a:noFill/>
        </p:spPr>
        <p:txBody>
          <a:bodyPr wrap="square" lIns="18288" rIns="18288" tIns="9144" bIns="9144">
            <a:normAutofit/>
          </a:bodyPr>
          <a:lstStyle/>
          <a:p>
            <a:r>
              <a:rPr sz="1100" b="0">
                <a:solidFill>
                  <a:srgbClr val="705F44"/>
                </a:solidFill>
                <a:latin typeface="Aptos"/>
              </a:rPr>
              <a:t>Detailed insights on ESR1 mutation prevalence, Orserdu treatment across therapy lines, and metastatic site distribution.</a:t>
            </a:r>
          </a:p>
        </p:txBody>
      </p:sp>
      <p:sp>
        <p:nvSpPr>
          <p:cNvPr id="21" name="TextBox 20"/>
          <p:cNvSpPr txBox="1"/>
          <p:nvPr/>
        </p:nvSpPr>
        <p:spPr>
          <a:xfrm>
            <a:off x="594360" y="6473952"/>
            <a:ext cx="6400800" cy="182880"/>
          </a:xfrm>
          <a:prstGeom prst="rect">
            <a:avLst/>
          </a:prstGeom>
          <a:noFill/>
        </p:spPr>
        <p:txBody>
          <a:bodyPr wrap="square" lIns="18288" rIns="18288" tIns="9144" bIns="9144">
            <a:normAutofit/>
          </a:bodyPr>
          <a:lstStyle/>
          <a:p>
            <a:r>
              <a:rPr sz="700" b="0">
                <a:solidFill>
                  <a:srgbClr val="705F44"/>
                </a:solidFill>
                <a:latin typeface="Aptos"/>
              </a:rPr>
              <a:t>BLITZ Enterprise Intelligence | Generated from cited RAG synthesis</a:t>
            </a:r>
          </a:p>
        </p:txBody>
      </p:sp>
      <p:sp>
        <p:nvSpPr>
          <p:cNvPr id="22" name="TextBox 21"/>
          <p:cNvSpPr txBox="1"/>
          <p:nvPr/>
        </p:nvSpPr>
        <p:spPr>
          <a:xfrm>
            <a:off x="11201400" y="6446520"/>
            <a:ext cx="411480" cy="201168"/>
          </a:xfrm>
          <a:prstGeom prst="rect">
            <a:avLst/>
          </a:prstGeom>
          <a:noFill/>
        </p:spPr>
        <p:txBody>
          <a:bodyPr wrap="square" lIns="18288" rIns="18288" tIns="9144" bIns="9144">
            <a:normAutofit/>
          </a:bodyPr>
          <a:lstStyle/>
          <a:p>
            <a:pPr algn="r"/>
            <a:r>
              <a:rPr sz="800" b="1">
                <a:solidFill>
                  <a:srgbClr val="B58930"/>
                </a:solidFill>
                <a:latin typeface="Apto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5943600" cy="228600"/>
          </a:xfrm>
          <a:prstGeom prst="rect">
            <a:avLst/>
          </a:prstGeom>
          <a:noFill/>
        </p:spPr>
        <p:txBody>
          <a:bodyPr wrap="square" lIns="18288" rIns="18288" tIns="9144" bIns="9144">
            <a:normAutofit/>
          </a:bodyPr>
          <a:lstStyle/>
          <a:p>
            <a:r>
              <a:rPr sz="800" b="1">
                <a:solidFill>
                  <a:srgbClr val="B58930"/>
                </a:solidFill>
                <a:latin typeface="Aptos"/>
              </a:rPr>
              <a:t>ENGAGEMENT | CLIENT - STEMLINE (US)</a:t>
            </a:r>
          </a:p>
        </p:txBody>
      </p:sp>
      <p:sp>
        <p:nvSpPr>
          <p:cNvPr id="4" name="TextBox 3"/>
          <p:cNvSpPr txBox="1"/>
          <p:nvPr/>
        </p:nvSpPr>
        <p:spPr>
          <a:xfrm>
            <a:off x="594360" y="566928"/>
            <a:ext cx="10515600" cy="566928"/>
          </a:xfrm>
          <a:prstGeom prst="rect">
            <a:avLst/>
          </a:prstGeom>
          <a:noFill/>
        </p:spPr>
        <p:txBody>
          <a:bodyPr wrap="square" lIns="18288" rIns="18288" tIns="9144" bIns="9144">
            <a:normAutofit/>
          </a:bodyPr>
          <a:lstStyle/>
          <a:p>
            <a:r>
              <a:rPr sz="2400" b="1">
                <a:solidFill>
                  <a:srgbClr val="2B2319"/>
                </a:solidFill>
                <a:latin typeface="Aptos"/>
              </a:rPr>
              <a:t>HCP Segmentation Analysis for Orserdu Sales Enablement</a:t>
            </a:r>
          </a:p>
        </p:txBody>
      </p:sp>
      <p:sp>
        <p:nvSpPr>
          <p:cNvPr id="5" name="Rectangle 4"/>
          <p:cNvSpPr/>
          <p:nvPr/>
        </p:nvSpPr>
        <p:spPr>
          <a:xfrm>
            <a:off x="594360" y="1207008"/>
            <a:ext cx="10972800" cy="9144"/>
          </a:xfrm>
          <a:prstGeom prst="rect">
            <a:avLst/>
          </a:prstGeom>
          <a:solidFill>
            <a:srgbClr val="DEC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94360" y="1325880"/>
            <a:ext cx="10972800" cy="502920"/>
          </a:xfrm>
          <a:prstGeom prst="roundRect">
            <a:avLst/>
          </a:prstGeom>
          <a:solidFill>
            <a:srgbClr val="F4E6BB"/>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17320"/>
            <a:ext cx="7315200" cy="320040"/>
          </a:xfrm>
          <a:prstGeom prst="rect">
            <a:avLst/>
          </a:prstGeom>
          <a:noFill/>
        </p:spPr>
        <p:txBody>
          <a:bodyPr wrap="square" lIns="18288" rIns="18288" tIns="9144" bIns="9144">
            <a:normAutofit/>
          </a:bodyPr>
          <a:lstStyle/>
          <a:p>
            <a:r>
              <a:rPr sz="1100" b="1">
                <a:solidFill>
                  <a:srgbClr val="2B2319"/>
                </a:solidFill>
                <a:latin typeface="Aptos"/>
              </a:rPr>
              <a:t>POC: Gaurav</a:t>
            </a:r>
          </a:p>
        </p:txBody>
      </p:sp>
      <p:sp>
        <p:nvSpPr>
          <p:cNvPr id="8" name="TextBox 7"/>
          <p:cNvSpPr txBox="1"/>
          <p:nvPr/>
        </p:nvSpPr>
        <p:spPr>
          <a:xfrm>
            <a:off x="10332720" y="1417320"/>
            <a:ext cx="1143000" cy="320040"/>
          </a:xfrm>
          <a:prstGeom prst="rect">
            <a:avLst/>
          </a:prstGeom>
          <a:noFill/>
        </p:spPr>
        <p:txBody>
          <a:bodyPr wrap="square" lIns="18288" rIns="18288" tIns="9144" bIns="9144">
            <a:normAutofit/>
          </a:bodyPr>
          <a:lstStyle/>
          <a:p>
            <a:pPr algn="r"/>
            <a:r>
              <a:rPr sz="1000" b="1">
                <a:solidFill>
                  <a:srgbClr val="B58930"/>
                </a:solidFill>
                <a:latin typeface="Aptos"/>
              </a:rPr>
              <a:t>Doc 2</a:t>
            </a:r>
          </a:p>
        </p:txBody>
      </p:sp>
      <p:sp>
        <p:nvSpPr>
          <p:cNvPr id="9" name="Rounded Rectangle 8"/>
          <p:cNvSpPr/>
          <p:nvPr/>
        </p:nvSpPr>
        <p:spPr>
          <a:xfrm>
            <a:off x="594360" y="2057400"/>
            <a:ext cx="5486400" cy="20116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5029200" cy="274320"/>
          </a:xfrm>
          <a:prstGeom prst="rect">
            <a:avLst/>
          </a:prstGeom>
          <a:noFill/>
        </p:spPr>
        <p:txBody>
          <a:bodyPr wrap="square" lIns="18288" rIns="18288" tIns="9144" bIns="9144">
            <a:normAutofit/>
          </a:bodyPr>
          <a:lstStyle/>
          <a:p>
            <a:r>
              <a:rPr sz="900" b="1">
                <a:solidFill>
                  <a:srgbClr val="B58930"/>
                </a:solidFill>
                <a:latin typeface="Aptos"/>
              </a:rPr>
              <a:t>BUSINESS OBJECTIVE</a:t>
            </a:r>
          </a:p>
        </p:txBody>
      </p:sp>
      <p:sp>
        <p:nvSpPr>
          <p:cNvPr id="11" name="TextBox 10"/>
          <p:cNvSpPr txBox="1"/>
          <p:nvPr/>
        </p:nvSpPr>
        <p:spPr>
          <a:xfrm>
            <a:off x="822960" y="2514600"/>
            <a:ext cx="5029200" cy="1463040"/>
          </a:xfrm>
          <a:prstGeom prst="rect">
            <a:avLst/>
          </a:prstGeom>
          <a:noFill/>
        </p:spPr>
        <p:txBody>
          <a:bodyPr wrap="square" lIns="18288" rIns="18288" tIns="9144" bIns="9144">
            <a:normAutofit/>
          </a:bodyPr>
          <a:lstStyle/>
          <a:p>
            <a:r>
              <a:rPr sz="1100" b="0">
                <a:solidFill>
                  <a:srgbClr val="705F44"/>
                </a:solidFill>
                <a:latin typeface="Aptos"/>
              </a:rPr>
              <a:t>To understand the sales and testing patterns of Healthcare Providers for the Orserdu product and inform sales enablement strategies.</a:t>
            </a:r>
          </a:p>
        </p:txBody>
      </p:sp>
      <p:sp>
        <p:nvSpPr>
          <p:cNvPr id="12" name="Rounded Rectangle 11"/>
          <p:cNvSpPr/>
          <p:nvPr/>
        </p:nvSpPr>
        <p:spPr>
          <a:xfrm>
            <a:off x="6355080" y="2057400"/>
            <a:ext cx="5486400" cy="20116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2194560"/>
            <a:ext cx="5029200" cy="274320"/>
          </a:xfrm>
          <a:prstGeom prst="rect">
            <a:avLst/>
          </a:prstGeom>
          <a:noFill/>
        </p:spPr>
        <p:txBody>
          <a:bodyPr wrap="square" lIns="18288" rIns="18288" tIns="9144" bIns="9144">
            <a:normAutofit/>
          </a:bodyPr>
          <a:lstStyle/>
          <a:p>
            <a:r>
              <a:rPr sz="900" b="1">
                <a:solidFill>
                  <a:srgbClr val="B58930"/>
                </a:solidFill>
                <a:latin typeface="Aptos"/>
              </a:rPr>
              <a:t>APPROACH</a:t>
            </a:r>
          </a:p>
        </p:txBody>
      </p:sp>
      <p:sp>
        <p:nvSpPr>
          <p:cNvPr id="14" name="TextBox 13"/>
          <p:cNvSpPr txBox="1"/>
          <p:nvPr/>
        </p:nvSpPr>
        <p:spPr>
          <a:xfrm>
            <a:off x="6583680" y="2514600"/>
            <a:ext cx="5029200" cy="1463040"/>
          </a:xfrm>
          <a:prstGeom prst="rect">
            <a:avLst/>
          </a:prstGeom>
          <a:noFill/>
        </p:spPr>
        <p:txBody>
          <a:bodyPr wrap="square" lIns="18288" rIns="18288" tIns="9144" bIns="9144">
            <a:normAutofit/>
          </a:bodyPr>
          <a:lstStyle/>
          <a:p>
            <a:r>
              <a:rPr sz="1100" b="0">
                <a:solidFill>
                  <a:srgbClr val="705F44"/>
                </a:solidFill>
                <a:latin typeface="Aptos"/>
              </a:rPr>
              <a:t>Segmentation analysis of HCPs based on their sales and testing behaviors for the Orserdu product.</a:t>
            </a:r>
          </a:p>
        </p:txBody>
      </p:sp>
      <p:sp>
        <p:nvSpPr>
          <p:cNvPr id="15" name="Rounded Rectangle 14"/>
          <p:cNvSpPr/>
          <p:nvPr/>
        </p:nvSpPr>
        <p:spPr>
          <a:xfrm>
            <a:off x="594360" y="4206240"/>
            <a:ext cx="5486400" cy="20116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343400"/>
            <a:ext cx="5029200" cy="274320"/>
          </a:xfrm>
          <a:prstGeom prst="rect">
            <a:avLst/>
          </a:prstGeom>
          <a:noFill/>
        </p:spPr>
        <p:txBody>
          <a:bodyPr wrap="square" lIns="18288" rIns="18288" tIns="9144" bIns="9144">
            <a:normAutofit/>
          </a:bodyPr>
          <a:lstStyle/>
          <a:p>
            <a:r>
              <a:rPr sz="900" b="1">
                <a:solidFill>
                  <a:srgbClr val="B58930"/>
                </a:solidFill>
                <a:latin typeface="Aptos"/>
              </a:rPr>
              <a:t>DATASETS &amp; TOOLS</a:t>
            </a:r>
          </a:p>
        </p:txBody>
      </p:sp>
      <p:sp>
        <p:nvSpPr>
          <p:cNvPr id="17" name="TextBox 16"/>
          <p:cNvSpPr txBox="1"/>
          <p:nvPr/>
        </p:nvSpPr>
        <p:spPr>
          <a:xfrm>
            <a:off x="822960" y="4663440"/>
            <a:ext cx="5029200" cy="1463040"/>
          </a:xfrm>
          <a:prstGeom prst="rect">
            <a:avLst/>
          </a:prstGeom>
          <a:noFill/>
        </p:spPr>
        <p:txBody>
          <a:bodyPr wrap="square" lIns="18288" rIns="18288" tIns="9144" bIns="9144">
            <a:normAutofit/>
          </a:bodyPr>
          <a:lstStyle/>
          <a:p>
            <a:r>
              <a:rPr sz="1100" b="0">
                <a:solidFill>
                  <a:srgbClr val="705F44"/>
                </a:solidFill>
                <a:latin typeface="Aptos"/>
              </a:rPr>
              <a:t>Sales and testing data for the Orserdu product</a:t>
            </a:r>
          </a:p>
        </p:txBody>
      </p:sp>
      <p:sp>
        <p:nvSpPr>
          <p:cNvPr id="18" name="Rounded Rectangle 17"/>
          <p:cNvSpPr/>
          <p:nvPr/>
        </p:nvSpPr>
        <p:spPr>
          <a:xfrm>
            <a:off x="6355080" y="4206240"/>
            <a:ext cx="5486400" cy="20116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4343400"/>
            <a:ext cx="5029200" cy="274320"/>
          </a:xfrm>
          <a:prstGeom prst="rect">
            <a:avLst/>
          </a:prstGeom>
          <a:noFill/>
        </p:spPr>
        <p:txBody>
          <a:bodyPr wrap="square" lIns="18288" rIns="18288" tIns="9144" bIns="9144">
            <a:normAutofit/>
          </a:bodyPr>
          <a:lstStyle/>
          <a:p>
            <a:r>
              <a:rPr sz="900" b="1">
                <a:solidFill>
                  <a:srgbClr val="B58930"/>
                </a:solidFill>
                <a:latin typeface="Aptos"/>
              </a:rPr>
              <a:t>OUTCOME</a:t>
            </a:r>
          </a:p>
        </p:txBody>
      </p:sp>
      <p:sp>
        <p:nvSpPr>
          <p:cNvPr id="20" name="TextBox 19"/>
          <p:cNvSpPr txBox="1"/>
          <p:nvPr/>
        </p:nvSpPr>
        <p:spPr>
          <a:xfrm>
            <a:off x="6583680" y="4663440"/>
            <a:ext cx="5029200" cy="1463040"/>
          </a:xfrm>
          <a:prstGeom prst="rect">
            <a:avLst/>
          </a:prstGeom>
          <a:noFill/>
        </p:spPr>
        <p:txBody>
          <a:bodyPr wrap="square" lIns="18288" rIns="18288" tIns="9144" bIns="9144">
            <a:normAutofit/>
          </a:bodyPr>
          <a:lstStyle/>
          <a:p>
            <a:r>
              <a:rPr sz="1100" b="0">
                <a:solidFill>
                  <a:srgbClr val="705F44"/>
                </a:solidFill>
                <a:latin typeface="Aptos"/>
              </a:rPr>
              <a:t>Detailed insights into different HCP segments and their engagement with Orserdu to inform sales enablement strategies.</a:t>
            </a:r>
          </a:p>
        </p:txBody>
      </p:sp>
      <p:sp>
        <p:nvSpPr>
          <p:cNvPr id="21" name="TextBox 20"/>
          <p:cNvSpPr txBox="1"/>
          <p:nvPr/>
        </p:nvSpPr>
        <p:spPr>
          <a:xfrm>
            <a:off x="594360" y="6473952"/>
            <a:ext cx="6400800" cy="182880"/>
          </a:xfrm>
          <a:prstGeom prst="rect">
            <a:avLst/>
          </a:prstGeom>
          <a:noFill/>
        </p:spPr>
        <p:txBody>
          <a:bodyPr wrap="square" lIns="18288" rIns="18288" tIns="9144" bIns="9144">
            <a:normAutofit/>
          </a:bodyPr>
          <a:lstStyle/>
          <a:p>
            <a:r>
              <a:rPr sz="700" b="0">
                <a:solidFill>
                  <a:srgbClr val="705F44"/>
                </a:solidFill>
                <a:latin typeface="Aptos"/>
              </a:rPr>
              <a:t>BLITZ Enterprise Intelligence | Generated from cited RAG synthesis</a:t>
            </a:r>
          </a:p>
        </p:txBody>
      </p:sp>
      <p:sp>
        <p:nvSpPr>
          <p:cNvPr id="22" name="TextBox 21"/>
          <p:cNvSpPr txBox="1"/>
          <p:nvPr/>
        </p:nvSpPr>
        <p:spPr>
          <a:xfrm>
            <a:off x="11201400" y="6446520"/>
            <a:ext cx="411480" cy="201168"/>
          </a:xfrm>
          <a:prstGeom prst="rect">
            <a:avLst/>
          </a:prstGeom>
          <a:noFill/>
        </p:spPr>
        <p:txBody>
          <a:bodyPr wrap="square" lIns="18288" rIns="18288" tIns="9144" bIns="9144">
            <a:normAutofit/>
          </a:bodyPr>
          <a:lstStyle/>
          <a:p>
            <a:pPr algn="r"/>
            <a:r>
              <a:rPr sz="800" b="1">
                <a:solidFill>
                  <a:srgbClr val="B58930"/>
                </a:solidFill>
                <a:latin typeface="Apto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5943600" cy="228600"/>
          </a:xfrm>
          <a:prstGeom prst="rect">
            <a:avLst/>
          </a:prstGeom>
          <a:noFill/>
        </p:spPr>
        <p:txBody>
          <a:bodyPr wrap="square" lIns="18288" rIns="18288" tIns="9144" bIns="9144">
            <a:normAutofit/>
          </a:bodyPr>
          <a:lstStyle/>
          <a:p>
            <a:r>
              <a:rPr sz="800" b="1">
                <a:solidFill>
                  <a:srgbClr val="B58930"/>
                </a:solidFill>
                <a:latin typeface="Aptos"/>
              </a:rPr>
              <a:t>ENGAGEMENT | CLIENT - STEMLINE (US)</a:t>
            </a:r>
          </a:p>
        </p:txBody>
      </p:sp>
      <p:sp>
        <p:nvSpPr>
          <p:cNvPr id="4" name="TextBox 3"/>
          <p:cNvSpPr txBox="1"/>
          <p:nvPr/>
        </p:nvSpPr>
        <p:spPr>
          <a:xfrm>
            <a:off x="594360" y="566928"/>
            <a:ext cx="10515600" cy="566928"/>
          </a:xfrm>
          <a:prstGeom prst="rect">
            <a:avLst/>
          </a:prstGeom>
          <a:noFill/>
        </p:spPr>
        <p:txBody>
          <a:bodyPr wrap="square" lIns="18288" rIns="18288" tIns="9144" bIns="9144">
            <a:normAutofit/>
          </a:bodyPr>
          <a:lstStyle/>
          <a:p>
            <a:r>
              <a:rPr sz="2400" b="1">
                <a:solidFill>
                  <a:srgbClr val="2B2319"/>
                </a:solidFill>
                <a:latin typeface="Aptos"/>
              </a:rPr>
              <a:t>Orserdu Growth Drivers Analysis</a:t>
            </a:r>
          </a:p>
        </p:txBody>
      </p:sp>
      <p:sp>
        <p:nvSpPr>
          <p:cNvPr id="5" name="Rectangle 4"/>
          <p:cNvSpPr/>
          <p:nvPr/>
        </p:nvSpPr>
        <p:spPr>
          <a:xfrm>
            <a:off x="594360" y="1207008"/>
            <a:ext cx="10972800" cy="9144"/>
          </a:xfrm>
          <a:prstGeom prst="rect">
            <a:avLst/>
          </a:prstGeom>
          <a:solidFill>
            <a:srgbClr val="DEC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94360" y="1325880"/>
            <a:ext cx="10972800" cy="502920"/>
          </a:xfrm>
          <a:prstGeom prst="roundRect">
            <a:avLst/>
          </a:prstGeom>
          <a:solidFill>
            <a:srgbClr val="F4E6BB"/>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17320"/>
            <a:ext cx="7315200" cy="320040"/>
          </a:xfrm>
          <a:prstGeom prst="rect">
            <a:avLst/>
          </a:prstGeom>
          <a:noFill/>
        </p:spPr>
        <p:txBody>
          <a:bodyPr wrap="square" lIns="18288" rIns="18288" tIns="9144" bIns="9144">
            <a:normAutofit/>
          </a:bodyPr>
          <a:lstStyle/>
          <a:p>
            <a:r>
              <a:rPr sz="1100" b="1">
                <a:solidFill>
                  <a:srgbClr val="2B2319"/>
                </a:solidFill>
                <a:latin typeface="Aptos"/>
              </a:rPr>
              <a:t>POC: Gaurav</a:t>
            </a:r>
          </a:p>
        </p:txBody>
      </p:sp>
      <p:sp>
        <p:nvSpPr>
          <p:cNvPr id="8" name="TextBox 7"/>
          <p:cNvSpPr txBox="1"/>
          <p:nvPr/>
        </p:nvSpPr>
        <p:spPr>
          <a:xfrm>
            <a:off x="10332720" y="1417320"/>
            <a:ext cx="1143000" cy="320040"/>
          </a:xfrm>
          <a:prstGeom prst="rect">
            <a:avLst/>
          </a:prstGeom>
          <a:noFill/>
        </p:spPr>
        <p:txBody>
          <a:bodyPr wrap="square" lIns="18288" rIns="18288" tIns="9144" bIns="9144">
            <a:normAutofit/>
          </a:bodyPr>
          <a:lstStyle/>
          <a:p>
            <a:pPr algn="r"/>
            <a:r>
              <a:rPr sz="1000" b="1">
                <a:solidFill>
                  <a:srgbClr val="B58930"/>
                </a:solidFill>
                <a:latin typeface="Aptos"/>
              </a:rPr>
              <a:t>Doc 3</a:t>
            </a:r>
          </a:p>
        </p:txBody>
      </p:sp>
      <p:sp>
        <p:nvSpPr>
          <p:cNvPr id="9" name="Rounded Rectangle 8"/>
          <p:cNvSpPr/>
          <p:nvPr/>
        </p:nvSpPr>
        <p:spPr>
          <a:xfrm>
            <a:off x="594360" y="2057400"/>
            <a:ext cx="5486400" cy="20116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5029200" cy="274320"/>
          </a:xfrm>
          <a:prstGeom prst="rect">
            <a:avLst/>
          </a:prstGeom>
          <a:noFill/>
        </p:spPr>
        <p:txBody>
          <a:bodyPr wrap="square" lIns="18288" rIns="18288" tIns="9144" bIns="9144">
            <a:normAutofit/>
          </a:bodyPr>
          <a:lstStyle/>
          <a:p>
            <a:r>
              <a:rPr sz="900" b="1">
                <a:solidFill>
                  <a:srgbClr val="B58930"/>
                </a:solidFill>
                <a:latin typeface="Aptos"/>
              </a:rPr>
              <a:t>BUSINESS OBJECTIVE</a:t>
            </a:r>
          </a:p>
        </p:txBody>
      </p:sp>
      <p:sp>
        <p:nvSpPr>
          <p:cNvPr id="11" name="TextBox 10"/>
          <p:cNvSpPr txBox="1"/>
          <p:nvPr/>
        </p:nvSpPr>
        <p:spPr>
          <a:xfrm>
            <a:off x="822960" y="2514600"/>
            <a:ext cx="5029200" cy="1463040"/>
          </a:xfrm>
          <a:prstGeom prst="rect">
            <a:avLst/>
          </a:prstGeom>
          <a:noFill/>
        </p:spPr>
        <p:txBody>
          <a:bodyPr wrap="square" lIns="18288" rIns="18288" tIns="9144" bIns="9144">
            <a:normAutofit/>
          </a:bodyPr>
          <a:lstStyle/>
          <a:p>
            <a:r>
              <a:rPr sz="1100" b="0">
                <a:solidFill>
                  <a:srgbClr val="705F44"/>
                </a:solidFill>
                <a:latin typeface="Aptos"/>
              </a:rPr>
              <a:t>Identify and analyze the key growth drivers for the pharmaceutical product Orserdu to guide optimization efforts.</a:t>
            </a:r>
          </a:p>
        </p:txBody>
      </p:sp>
      <p:sp>
        <p:nvSpPr>
          <p:cNvPr id="12" name="Rounded Rectangle 11"/>
          <p:cNvSpPr/>
          <p:nvPr/>
        </p:nvSpPr>
        <p:spPr>
          <a:xfrm>
            <a:off x="6355080" y="2057400"/>
            <a:ext cx="5486400" cy="20116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2194560"/>
            <a:ext cx="5029200" cy="274320"/>
          </a:xfrm>
          <a:prstGeom prst="rect">
            <a:avLst/>
          </a:prstGeom>
          <a:noFill/>
        </p:spPr>
        <p:txBody>
          <a:bodyPr wrap="square" lIns="18288" rIns="18288" tIns="9144" bIns="9144">
            <a:normAutofit/>
          </a:bodyPr>
          <a:lstStyle/>
          <a:p>
            <a:r>
              <a:rPr sz="900" b="1">
                <a:solidFill>
                  <a:srgbClr val="B58930"/>
                </a:solidFill>
                <a:latin typeface="Aptos"/>
              </a:rPr>
              <a:t>APPROACH</a:t>
            </a:r>
          </a:p>
        </p:txBody>
      </p:sp>
      <p:sp>
        <p:nvSpPr>
          <p:cNvPr id="14" name="TextBox 13"/>
          <p:cNvSpPr txBox="1"/>
          <p:nvPr/>
        </p:nvSpPr>
        <p:spPr>
          <a:xfrm>
            <a:off x="6583680" y="2514600"/>
            <a:ext cx="5029200" cy="1463040"/>
          </a:xfrm>
          <a:prstGeom prst="rect">
            <a:avLst/>
          </a:prstGeom>
          <a:noFill/>
        </p:spPr>
        <p:txBody>
          <a:bodyPr wrap="square" lIns="18288" rIns="18288" tIns="9144" bIns="9144">
            <a:normAutofit/>
          </a:bodyPr>
          <a:lstStyle/>
          <a:p>
            <a:r>
              <a:rPr sz="1100" b="0">
                <a:solidFill>
                  <a:srgbClr val="705F44"/>
                </a:solidFill>
                <a:latin typeface="Aptos"/>
              </a:rPr>
              <a:t>Consolidated and analyzed sales data across channels to segment accounts and identify growth opportunities and strategic focus areas.</a:t>
            </a:r>
          </a:p>
        </p:txBody>
      </p:sp>
      <p:sp>
        <p:nvSpPr>
          <p:cNvPr id="15" name="Rounded Rectangle 14"/>
          <p:cNvSpPr/>
          <p:nvPr/>
        </p:nvSpPr>
        <p:spPr>
          <a:xfrm>
            <a:off x="594360" y="4206240"/>
            <a:ext cx="5486400" cy="20116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343400"/>
            <a:ext cx="5029200" cy="274320"/>
          </a:xfrm>
          <a:prstGeom prst="rect">
            <a:avLst/>
          </a:prstGeom>
          <a:noFill/>
        </p:spPr>
        <p:txBody>
          <a:bodyPr wrap="square" lIns="18288" rIns="18288" tIns="9144" bIns="9144">
            <a:normAutofit/>
          </a:bodyPr>
          <a:lstStyle/>
          <a:p>
            <a:r>
              <a:rPr sz="900" b="1">
                <a:solidFill>
                  <a:srgbClr val="B58930"/>
                </a:solidFill>
                <a:latin typeface="Aptos"/>
              </a:rPr>
              <a:t>DATASETS &amp; TOOLS</a:t>
            </a:r>
          </a:p>
        </p:txBody>
      </p:sp>
      <p:sp>
        <p:nvSpPr>
          <p:cNvPr id="17" name="TextBox 16"/>
          <p:cNvSpPr txBox="1"/>
          <p:nvPr/>
        </p:nvSpPr>
        <p:spPr>
          <a:xfrm>
            <a:off x="822960" y="4663440"/>
            <a:ext cx="5029200" cy="1463040"/>
          </a:xfrm>
          <a:prstGeom prst="rect">
            <a:avLst/>
          </a:prstGeom>
          <a:noFill/>
        </p:spPr>
        <p:txBody>
          <a:bodyPr wrap="square" lIns="18288" rIns="18288" tIns="9144" bIns="9144">
            <a:normAutofit/>
          </a:bodyPr>
          <a:lstStyle/>
          <a:p>
            <a:r>
              <a:rPr sz="1100" b="0">
                <a:solidFill>
                  <a:srgbClr val="705F44"/>
                </a:solidFill>
                <a:latin typeface="Aptos"/>
              </a:rPr>
              <a:t>SP+HUB+SD dataset at Corporate Parent Account level, harmonized to Eq units, analyzed monthly and R12M (Nov'24-Oct'25)</a:t>
            </a:r>
          </a:p>
        </p:txBody>
      </p:sp>
      <p:sp>
        <p:nvSpPr>
          <p:cNvPr id="18" name="Rounded Rectangle 17"/>
          <p:cNvSpPr/>
          <p:nvPr/>
        </p:nvSpPr>
        <p:spPr>
          <a:xfrm>
            <a:off x="6355080" y="4206240"/>
            <a:ext cx="5486400" cy="20116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4343400"/>
            <a:ext cx="5029200" cy="274320"/>
          </a:xfrm>
          <a:prstGeom prst="rect">
            <a:avLst/>
          </a:prstGeom>
          <a:noFill/>
        </p:spPr>
        <p:txBody>
          <a:bodyPr wrap="square" lIns="18288" rIns="18288" tIns="9144" bIns="9144">
            <a:normAutofit/>
          </a:bodyPr>
          <a:lstStyle/>
          <a:p>
            <a:r>
              <a:rPr sz="900" b="1">
                <a:solidFill>
                  <a:srgbClr val="B58930"/>
                </a:solidFill>
                <a:latin typeface="Aptos"/>
              </a:rPr>
              <a:t>OUTCOME</a:t>
            </a:r>
          </a:p>
        </p:txBody>
      </p:sp>
      <p:sp>
        <p:nvSpPr>
          <p:cNvPr id="20" name="TextBox 19"/>
          <p:cNvSpPr txBox="1"/>
          <p:nvPr/>
        </p:nvSpPr>
        <p:spPr>
          <a:xfrm>
            <a:off x="6583680" y="4663440"/>
            <a:ext cx="5029200" cy="1463040"/>
          </a:xfrm>
          <a:prstGeom prst="rect">
            <a:avLst/>
          </a:prstGeom>
          <a:noFill/>
        </p:spPr>
        <p:txBody>
          <a:bodyPr wrap="square" lIns="18288" rIns="18288" tIns="9144" bIns="9144">
            <a:normAutofit/>
          </a:bodyPr>
          <a:lstStyle/>
          <a:p>
            <a:r>
              <a:rPr sz="1100" b="0">
                <a:solidFill>
                  <a:srgbClr val="705F44"/>
                </a:solidFill>
                <a:latin typeface="Aptos"/>
              </a:rPr>
              <a:t>Identified key growth drivers across channels, seasonality, territories, and payers with strategic recommendations for community accounts and high-potential territories.</a:t>
            </a:r>
          </a:p>
        </p:txBody>
      </p:sp>
      <p:sp>
        <p:nvSpPr>
          <p:cNvPr id="21" name="TextBox 20"/>
          <p:cNvSpPr txBox="1"/>
          <p:nvPr/>
        </p:nvSpPr>
        <p:spPr>
          <a:xfrm>
            <a:off x="594360" y="6473952"/>
            <a:ext cx="6400800" cy="182880"/>
          </a:xfrm>
          <a:prstGeom prst="rect">
            <a:avLst/>
          </a:prstGeom>
          <a:noFill/>
        </p:spPr>
        <p:txBody>
          <a:bodyPr wrap="square" lIns="18288" rIns="18288" tIns="9144" bIns="9144">
            <a:normAutofit/>
          </a:bodyPr>
          <a:lstStyle/>
          <a:p>
            <a:r>
              <a:rPr sz="700" b="0">
                <a:solidFill>
                  <a:srgbClr val="705F44"/>
                </a:solidFill>
                <a:latin typeface="Aptos"/>
              </a:rPr>
              <a:t>BLITZ Enterprise Intelligence | Generated from cited RAG synthesis</a:t>
            </a:r>
          </a:p>
        </p:txBody>
      </p:sp>
      <p:sp>
        <p:nvSpPr>
          <p:cNvPr id="22" name="TextBox 21"/>
          <p:cNvSpPr txBox="1"/>
          <p:nvPr/>
        </p:nvSpPr>
        <p:spPr>
          <a:xfrm>
            <a:off x="11201400" y="6446520"/>
            <a:ext cx="411480" cy="201168"/>
          </a:xfrm>
          <a:prstGeom prst="rect">
            <a:avLst/>
          </a:prstGeom>
          <a:noFill/>
        </p:spPr>
        <p:txBody>
          <a:bodyPr wrap="square" lIns="18288" rIns="18288" tIns="9144" bIns="9144">
            <a:normAutofit/>
          </a:bodyPr>
          <a:lstStyle/>
          <a:p>
            <a:pPr algn="r"/>
            <a:r>
              <a:rPr sz="800" b="1">
                <a:solidFill>
                  <a:srgbClr val="B58930"/>
                </a:solidFill>
                <a:latin typeface="Apto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5943600" cy="228600"/>
          </a:xfrm>
          <a:prstGeom prst="rect">
            <a:avLst/>
          </a:prstGeom>
          <a:noFill/>
        </p:spPr>
        <p:txBody>
          <a:bodyPr wrap="square" lIns="18288" rIns="18288" tIns="9144" bIns="9144">
            <a:normAutofit/>
          </a:bodyPr>
          <a:lstStyle/>
          <a:p>
            <a:r>
              <a:rPr sz="800" b="1">
                <a:solidFill>
                  <a:srgbClr val="B58930"/>
                </a:solidFill>
                <a:latin typeface="Aptos"/>
              </a:rPr>
              <a:t>EXECUTION STORYLINE</a:t>
            </a:r>
          </a:p>
        </p:txBody>
      </p:sp>
      <p:sp>
        <p:nvSpPr>
          <p:cNvPr id="4" name="TextBox 3"/>
          <p:cNvSpPr txBox="1"/>
          <p:nvPr/>
        </p:nvSpPr>
        <p:spPr>
          <a:xfrm>
            <a:off x="594360" y="566928"/>
            <a:ext cx="10515600" cy="566928"/>
          </a:xfrm>
          <a:prstGeom prst="rect">
            <a:avLst/>
          </a:prstGeom>
          <a:noFill/>
        </p:spPr>
        <p:txBody>
          <a:bodyPr wrap="square" lIns="18288" rIns="18288" tIns="9144" bIns="9144">
            <a:normAutofit/>
          </a:bodyPr>
          <a:lstStyle/>
          <a:p>
            <a:r>
              <a:rPr sz="2400" b="1">
                <a:solidFill>
                  <a:srgbClr val="2B2319"/>
                </a:solidFill>
                <a:latin typeface="Aptos"/>
              </a:rPr>
              <a:t>How We Approached This Work</a:t>
            </a:r>
          </a:p>
        </p:txBody>
      </p:sp>
      <p:sp>
        <p:nvSpPr>
          <p:cNvPr id="5" name="Rectangle 4"/>
          <p:cNvSpPr/>
          <p:nvPr/>
        </p:nvSpPr>
        <p:spPr>
          <a:xfrm>
            <a:off x="594360" y="1207008"/>
            <a:ext cx="10972800" cy="9144"/>
          </a:xfrm>
          <a:prstGeom prst="rect">
            <a:avLst/>
          </a:prstGeom>
          <a:solidFill>
            <a:srgbClr val="DEC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011680"/>
            <a:ext cx="530352" cy="530352"/>
          </a:xfrm>
          <a:prstGeom prst="ellipse">
            <a:avLst/>
          </a:prstGeom>
          <a:solidFill>
            <a:srgbClr val="B58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2093976"/>
            <a:ext cx="228600" cy="219456"/>
          </a:xfrm>
          <a:prstGeom prst="rect">
            <a:avLst/>
          </a:prstGeom>
          <a:noFill/>
        </p:spPr>
        <p:txBody>
          <a:bodyPr wrap="square" lIns="18288" rIns="18288" tIns="9144" bIns="9144">
            <a:normAutofit/>
          </a:bodyPr>
          <a:lstStyle/>
          <a:p>
            <a:pPr algn="ctr"/>
            <a:r>
              <a:rPr sz="1200" b="1">
                <a:solidFill>
                  <a:srgbClr val="FFFFFF"/>
                </a:solidFill>
                <a:latin typeface="Aptos"/>
              </a:rPr>
              <a:t>1</a:t>
            </a:r>
          </a:p>
        </p:txBody>
      </p:sp>
      <p:sp>
        <p:nvSpPr>
          <p:cNvPr id="8" name="Rectangle 7"/>
          <p:cNvSpPr/>
          <p:nvPr/>
        </p:nvSpPr>
        <p:spPr>
          <a:xfrm>
            <a:off x="1490472" y="2267712"/>
            <a:ext cx="2011680" cy="22860"/>
          </a:xfrm>
          <a:prstGeom prst="rect">
            <a:avLst/>
          </a:prstGeom>
          <a:solidFill>
            <a:srgbClr val="DEC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798064"/>
            <a:ext cx="1874519" cy="1463040"/>
          </a:xfrm>
          <a:prstGeom prst="rect">
            <a:avLst/>
          </a:prstGeom>
          <a:noFill/>
        </p:spPr>
        <p:txBody>
          <a:bodyPr wrap="square" lIns="18288" rIns="18288" tIns="9144" bIns="9144">
            <a:normAutofit/>
          </a:bodyPr>
          <a:lstStyle/>
          <a:p>
            <a:pPr algn="ctr"/>
            <a:r>
              <a:rPr sz="1100" b="1">
                <a:solidFill>
                  <a:srgbClr val="2B2319"/>
                </a:solidFill>
                <a:latin typeface="Aptos"/>
              </a:rPr>
              <a:t>Analyzed ESR1 mutation prevalence and treatment patterns using Guardant, Diaceu...</a:t>
            </a:r>
          </a:p>
        </p:txBody>
      </p:sp>
      <p:sp>
        <p:nvSpPr>
          <p:cNvPr id="10" name="Oval 9"/>
          <p:cNvSpPr/>
          <p:nvPr/>
        </p:nvSpPr>
        <p:spPr>
          <a:xfrm>
            <a:off x="3017520" y="2011680"/>
            <a:ext cx="530352" cy="530352"/>
          </a:xfrm>
          <a:prstGeom prst="ellipse">
            <a:avLst/>
          </a:prstGeom>
          <a:solidFill>
            <a:srgbClr val="B58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63824" y="2093976"/>
            <a:ext cx="228600" cy="219456"/>
          </a:xfrm>
          <a:prstGeom prst="rect">
            <a:avLst/>
          </a:prstGeom>
          <a:noFill/>
        </p:spPr>
        <p:txBody>
          <a:bodyPr wrap="square" lIns="18288" rIns="18288" tIns="9144" bIns="9144">
            <a:normAutofit/>
          </a:bodyPr>
          <a:lstStyle/>
          <a:p>
            <a:pPr algn="ctr"/>
            <a:r>
              <a:rPr sz="1200" b="1">
                <a:solidFill>
                  <a:srgbClr val="FFFFFF"/>
                </a:solidFill>
                <a:latin typeface="Aptos"/>
              </a:rPr>
              <a:t>2</a:t>
            </a:r>
          </a:p>
        </p:txBody>
      </p:sp>
      <p:sp>
        <p:nvSpPr>
          <p:cNvPr id="12" name="Rectangle 11"/>
          <p:cNvSpPr/>
          <p:nvPr/>
        </p:nvSpPr>
        <p:spPr>
          <a:xfrm>
            <a:off x="3639312" y="2267712"/>
            <a:ext cx="2011680" cy="22860"/>
          </a:xfrm>
          <a:prstGeom prst="rect">
            <a:avLst/>
          </a:prstGeom>
          <a:solidFill>
            <a:srgbClr val="DEC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52928" y="2798064"/>
            <a:ext cx="1874519" cy="1463040"/>
          </a:xfrm>
          <a:prstGeom prst="rect">
            <a:avLst/>
          </a:prstGeom>
          <a:noFill/>
        </p:spPr>
        <p:txBody>
          <a:bodyPr wrap="square" lIns="18288" rIns="18288" tIns="9144" bIns="9144">
            <a:normAutofit/>
          </a:bodyPr>
          <a:lstStyle/>
          <a:p>
            <a:pPr algn="ctr"/>
            <a:r>
              <a:rPr sz="1100" b="1">
                <a:solidFill>
                  <a:srgbClr val="2B2319"/>
                </a:solidFill>
                <a:latin typeface="Aptos"/>
              </a:rPr>
              <a:t>Segmented healthcare providers by sales and testing behaviors to inform enablem...</a:t>
            </a:r>
          </a:p>
        </p:txBody>
      </p:sp>
      <p:sp>
        <p:nvSpPr>
          <p:cNvPr id="14" name="Oval 13"/>
          <p:cNvSpPr/>
          <p:nvPr/>
        </p:nvSpPr>
        <p:spPr>
          <a:xfrm>
            <a:off x="5166360" y="2011680"/>
            <a:ext cx="530352" cy="530352"/>
          </a:xfrm>
          <a:prstGeom prst="ellipse">
            <a:avLst/>
          </a:prstGeom>
          <a:solidFill>
            <a:srgbClr val="B58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12664" y="2093976"/>
            <a:ext cx="228600" cy="219456"/>
          </a:xfrm>
          <a:prstGeom prst="rect">
            <a:avLst/>
          </a:prstGeom>
          <a:noFill/>
        </p:spPr>
        <p:txBody>
          <a:bodyPr wrap="square" lIns="18288" rIns="18288" tIns="9144" bIns="9144">
            <a:normAutofit/>
          </a:bodyPr>
          <a:lstStyle/>
          <a:p>
            <a:pPr algn="ctr"/>
            <a:r>
              <a:rPr sz="1200" b="1">
                <a:solidFill>
                  <a:srgbClr val="FFFFFF"/>
                </a:solidFill>
                <a:latin typeface="Aptos"/>
              </a:rPr>
              <a:t>3</a:t>
            </a:r>
          </a:p>
        </p:txBody>
      </p:sp>
      <p:sp>
        <p:nvSpPr>
          <p:cNvPr id="16" name="Rectangle 15"/>
          <p:cNvSpPr/>
          <p:nvPr/>
        </p:nvSpPr>
        <p:spPr>
          <a:xfrm>
            <a:off x="5788152" y="2267712"/>
            <a:ext cx="2011680" cy="22860"/>
          </a:xfrm>
          <a:prstGeom prst="rect">
            <a:avLst/>
          </a:prstGeom>
          <a:solidFill>
            <a:srgbClr val="DEC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01768" y="2798064"/>
            <a:ext cx="1874519" cy="1463040"/>
          </a:xfrm>
          <a:prstGeom prst="rect">
            <a:avLst/>
          </a:prstGeom>
          <a:noFill/>
        </p:spPr>
        <p:txBody>
          <a:bodyPr wrap="square" lIns="18288" rIns="18288" tIns="9144" bIns="9144">
            <a:normAutofit/>
          </a:bodyPr>
          <a:lstStyle/>
          <a:p>
            <a:pPr algn="ctr"/>
            <a:r>
              <a:rPr sz="1100" b="1">
                <a:solidFill>
                  <a:srgbClr val="2B2319"/>
                </a:solidFill>
                <a:latin typeface="Aptos"/>
              </a:rPr>
              <a:t>Identified growth opportunities across SP, HUB, SD channels with territorial pe...</a:t>
            </a:r>
          </a:p>
        </p:txBody>
      </p:sp>
      <p:sp>
        <p:nvSpPr>
          <p:cNvPr id="18" name="Oval 17"/>
          <p:cNvSpPr/>
          <p:nvPr/>
        </p:nvSpPr>
        <p:spPr>
          <a:xfrm>
            <a:off x="7315200" y="2011680"/>
            <a:ext cx="530352" cy="530352"/>
          </a:xfrm>
          <a:prstGeom prst="ellipse">
            <a:avLst/>
          </a:prstGeom>
          <a:solidFill>
            <a:srgbClr val="B58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61504" y="2093976"/>
            <a:ext cx="228600" cy="219456"/>
          </a:xfrm>
          <a:prstGeom prst="rect">
            <a:avLst/>
          </a:prstGeom>
          <a:noFill/>
        </p:spPr>
        <p:txBody>
          <a:bodyPr wrap="square" lIns="18288" rIns="18288" tIns="9144" bIns="9144">
            <a:normAutofit/>
          </a:bodyPr>
          <a:lstStyle/>
          <a:p>
            <a:pPr algn="ctr"/>
            <a:r>
              <a:rPr sz="1200" b="1">
                <a:solidFill>
                  <a:srgbClr val="FFFFFF"/>
                </a:solidFill>
                <a:latin typeface="Aptos"/>
              </a:rPr>
              <a:t>4</a:t>
            </a:r>
          </a:p>
        </p:txBody>
      </p:sp>
      <p:sp>
        <p:nvSpPr>
          <p:cNvPr id="20" name="Rectangle 19"/>
          <p:cNvSpPr/>
          <p:nvPr/>
        </p:nvSpPr>
        <p:spPr>
          <a:xfrm>
            <a:off x="7936992" y="2267712"/>
            <a:ext cx="2011680" cy="22860"/>
          </a:xfrm>
          <a:prstGeom prst="rect">
            <a:avLst/>
          </a:prstGeom>
          <a:solidFill>
            <a:srgbClr val="DEC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50608" y="2798064"/>
            <a:ext cx="1874519" cy="1463040"/>
          </a:xfrm>
          <a:prstGeom prst="rect">
            <a:avLst/>
          </a:prstGeom>
          <a:noFill/>
        </p:spPr>
        <p:txBody>
          <a:bodyPr wrap="square" lIns="18288" rIns="18288" tIns="9144" bIns="9144">
            <a:normAutofit/>
          </a:bodyPr>
          <a:lstStyle/>
          <a:p>
            <a:pPr algn="ctr"/>
            <a:r>
              <a:rPr sz="1100" b="1">
                <a:solidFill>
                  <a:srgbClr val="2B2319"/>
                </a:solidFill>
                <a:latin typeface="Aptos"/>
              </a:rPr>
              <a:t>Developed strategic recommendations targeting community accounts and high-poten...</a:t>
            </a:r>
          </a:p>
        </p:txBody>
      </p:sp>
      <p:sp>
        <p:nvSpPr>
          <p:cNvPr id="22" name="Oval 21"/>
          <p:cNvSpPr/>
          <p:nvPr/>
        </p:nvSpPr>
        <p:spPr>
          <a:xfrm>
            <a:off x="9464040" y="2011680"/>
            <a:ext cx="530352" cy="530352"/>
          </a:xfrm>
          <a:prstGeom prst="ellipse">
            <a:avLst/>
          </a:prstGeom>
          <a:solidFill>
            <a:srgbClr val="B58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10344" y="2093976"/>
            <a:ext cx="228600" cy="219456"/>
          </a:xfrm>
          <a:prstGeom prst="rect">
            <a:avLst/>
          </a:prstGeom>
          <a:noFill/>
        </p:spPr>
        <p:txBody>
          <a:bodyPr wrap="square" lIns="18288" rIns="18288" tIns="9144" bIns="9144">
            <a:normAutofit/>
          </a:bodyPr>
          <a:lstStyle/>
          <a:p>
            <a:pPr algn="ctr"/>
            <a:r>
              <a:rPr sz="1200" b="1">
                <a:solidFill>
                  <a:srgbClr val="FFFFFF"/>
                </a:solidFill>
                <a:latin typeface="Aptos"/>
              </a:rPr>
              <a:t>5</a:t>
            </a:r>
          </a:p>
        </p:txBody>
      </p:sp>
      <p:sp>
        <p:nvSpPr>
          <p:cNvPr id="24" name="TextBox 23"/>
          <p:cNvSpPr txBox="1"/>
          <p:nvPr/>
        </p:nvSpPr>
        <p:spPr>
          <a:xfrm>
            <a:off x="9299448" y="2798064"/>
            <a:ext cx="1874519" cy="1463040"/>
          </a:xfrm>
          <a:prstGeom prst="rect">
            <a:avLst/>
          </a:prstGeom>
          <a:noFill/>
        </p:spPr>
        <p:txBody>
          <a:bodyPr wrap="square" lIns="18288" rIns="18288" tIns="9144" bIns="9144">
            <a:normAutofit/>
          </a:bodyPr>
          <a:lstStyle/>
          <a:p>
            <a:pPr algn="ctr"/>
            <a:r>
              <a:rPr sz="1100" b="1">
                <a:solidFill>
                  <a:srgbClr val="2B2319"/>
                </a:solidFill>
                <a:latin typeface="Aptos"/>
              </a:rPr>
              <a:t>Managed CONNEX Program attendee database tracking HCP participation across mult...</a:t>
            </a:r>
          </a:p>
        </p:txBody>
      </p:sp>
      <p:sp>
        <p:nvSpPr>
          <p:cNvPr id="25" name="TextBox 24"/>
          <p:cNvSpPr txBox="1"/>
          <p:nvPr/>
        </p:nvSpPr>
        <p:spPr>
          <a:xfrm>
            <a:off x="594360" y="6473952"/>
            <a:ext cx="6400800" cy="182880"/>
          </a:xfrm>
          <a:prstGeom prst="rect">
            <a:avLst/>
          </a:prstGeom>
          <a:noFill/>
        </p:spPr>
        <p:txBody>
          <a:bodyPr wrap="square" lIns="18288" rIns="18288" tIns="9144" bIns="9144">
            <a:normAutofit/>
          </a:bodyPr>
          <a:lstStyle/>
          <a:p>
            <a:r>
              <a:rPr sz="700" b="0">
                <a:solidFill>
                  <a:srgbClr val="705F44"/>
                </a:solidFill>
                <a:latin typeface="Aptos"/>
              </a:rPr>
              <a:t>BLITZ Enterprise Intelligence | Generated from cited RAG synthesis</a:t>
            </a:r>
          </a:p>
        </p:txBody>
      </p:sp>
      <p:sp>
        <p:nvSpPr>
          <p:cNvPr id="26" name="TextBox 25"/>
          <p:cNvSpPr txBox="1"/>
          <p:nvPr/>
        </p:nvSpPr>
        <p:spPr>
          <a:xfrm>
            <a:off x="11201400" y="6446520"/>
            <a:ext cx="411480" cy="201168"/>
          </a:xfrm>
          <a:prstGeom prst="rect">
            <a:avLst/>
          </a:prstGeom>
          <a:noFill/>
        </p:spPr>
        <p:txBody>
          <a:bodyPr wrap="square" lIns="18288" rIns="18288" tIns="9144" bIns="9144">
            <a:normAutofit/>
          </a:bodyPr>
          <a:lstStyle/>
          <a:p>
            <a:pPr algn="r"/>
            <a:r>
              <a:rPr sz="800" b="1">
                <a:solidFill>
                  <a:srgbClr val="B58930"/>
                </a:solidFill>
                <a:latin typeface="Aptos"/>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5943600" cy="228600"/>
          </a:xfrm>
          <a:prstGeom prst="rect">
            <a:avLst/>
          </a:prstGeom>
          <a:noFill/>
        </p:spPr>
        <p:txBody>
          <a:bodyPr wrap="square" lIns="18288" rIns="18288" tIns="9144" bIns="9144">
            <a:normAutofit/>
          </a:bodyPr>
          <a:lstStyle/>
          <a:p>
            <a:r>
              <a:rPr sz="800" b="1">
                <a:solidFill>
                  <a:srgbClr val="B58930"/>
                </a:solidFill>
                <a:latin typeface="Aptos"/>
              </a:rPr>
              <a:t>REUSABLE PATTERNS</a:t>
            </a:r>
          </a:p>
        </p:txBody>
      </p:sp>
      <p:sp>
        <p:nvSpPr>
          <p:cNvPr id="4" name="TextBox 3"/>
          <p:cNvSpPr txBox="1"/>
          <p:nvPr/>
        </p:nvSpPr>
        <p:spPr>
          <a:xfrm>
            <a:off x="594360" y="566928"/>
            <a:ext cx="10515600" cy="566928"/>
          </a:xfrm>
          <a:prstGeom prst="rect">
            <a:avLst/>
          </a:prstGeom>
          <a:noFill/>
        </p:spPr>
        <p:txBody>
          <a:bodyPr wrap="square" lIns="18288" rIns="18288" tIns="9144" bIns="9144">
            <a:normAutofit/>
          </a:bodyPr>
          <a:lstStyle/>
          <a:p>
            <a:r>
              <a:rPr sz="2400" b="1">
                <a:solidFill>
                  <a:srgbClr val="2B2319"/>
                </a:solidFill>
                <a:latin typeface="Aptos"/>
              </a:rPr>
              <a:t>How to Leverage This</a:t>
            </a:r>
          </a:p>
        </p:txBody>
      </p:sp>
      <p:sp>
        <p:nvSpPr>
          <p:cNvPr id="5" name="Rectangle 4"/>
          <p:cNvSpPr/>
          <p:nvPr/>
        </p:nvSpPr>
        <p:spPr>
          <a:xfrm>
            <a:off x="594360" y="1207008"/>
            <a:ext cx="10972800" cy="9144"/>
          </a:xfrm>
          <a:prstGeom prst="rect">
            <a:avLst/>
          </a:prstGeom>
          <a:solidFill>
            <a:srgbClr val="DEC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00200"/>
            <a:ext cx="6766560" cy="4114800"/>
          </a:xfrm>
          <a:prstGeom prst="rect">
            <a:avLst/>
          </a:prstGeom>
          <a:noFill/>
        </p:spPr>
        <p:txBody>
          <a:bodyPr wrap="square" lIns="18288" rIns="45720" tIns="18288" bIns="18288">
            <a:normAutofit/>
          </a:bodyPr>
          <a:lstStyle/>
          <a:p>
            <a:pPr>
              <a:spcAft>
                <a:spcPts val="500"/>
              </a:spcAft>
              <a:defRPr sz="1500">
                <a:solidFill>
                  <a:srgbClr val="2B2319"/>
                </a:solidFill>
                <a:latin typeface="Aptos"/>
              </a:defRPr>
            </a:pPr>
            <a:r>
              <a:t>- Harmonize multi-channel sales data (SP+HUB+SD) to identify growth opportunities across territories</a:t>
            </a:r>
          </a:p>
          <a:p>
            <a:pPr>
              <a:spcAft>
                <a:spcPts val="500"/>
              </a:spcAft>
              <a:defRPr sz="1500">
                <a:solidFill>
                  <a:srgbClr val="2B2319"/>
                </a:solidFill>
                <a:latin typeface="Aptos"/>
              </a:defRPr>
            </a:pPr>
            <a:r>
              <a:t>- Segment HCPs by sales and testing behaviors to optimize field force targeting</a:t>
            </a:r>
          </a:p>
          <a:p>
            <a:pPr>
              <a:spcAft>
                <a:spcPts val="500"/>
              </a:spcAft>
              <a:defRPr sz="1500">
                <a:solidFill>
                  <a:srgbClr val="2B2319"/>
                </a:solidFill>
                <a:latin typeface="Aptos"/>
              </a:defRPr>
            </a:pPr>
            <a:r>
              <a:t>- Track educational event attendees across regions for comprehensive engagement analytics</a:t>
            </a:r>
          </a:p>
        </p:txBody>
      </p:sp>
      <p:sp>
        <p:nvSpPr>
          <p:cNvPr id="7" name="Rounded Rectangle 6"/>
          <p:cNvSpPr/>
          <p:nvPr/>
        </p:nvSpPr>
        <p:spPr>
          <a:xfrm>
            <a:off x="7818120" y="1600200"/>
            <a:ext cx="3886200" cy="40690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28431" y="1783080"/>
            <a:ext cx="3520440" cy="320040"/>
          </a:xfrm>
          <a:prstGeom prst="rect">
            <a:avLst/>
          </a:prstGeom>
          <a:noFill/>
        </p:spPr>
        <p:txBody>
          <a:bodyPr wrap="square" lIns="18288" rIns="18288" tIns="9144" bIns="9144">
            <a:normAutofit/>
          </a:bodyPr>
          <a:lstStyle/>
          <a:p>
            <a:r>
              <a:rPr sz="1100" b="1">
                <a:solidFill>
                  <a:srgbClr val="B58930"/>
                </a:solidFill>
                <a:latin typeface="Aptos"/>
              </a:rPr>
              <a:t>How to reuse</a:t>
            </a:r>
          </a:p>
        </p:txBody>
      </p:sp>
      <p:sp>
        <p:nvSpPr>
          <p:cNvPr id="9" name="TextBox 8"/>
          <p:cNvSpPr txBox="1"/>
          <p:nvPr/>
        </p:nvSpPr>
        <p:spPr>
          <a:xfrm>
            <a:off x="8028431" y="2194560"/>
            <a:ext cx="3520440" cy="3246120"/>
          </a:xfrm>
          <a:prstGeom prst="rect">
            <a:avLst/>
          </a:prstGeom>
          <a:noFill/>
        </p:spPr>
        <p:txBody>
          <a:bodyPr wrap="square" lIns="18288" rIns="18288" tIns="9144" bIns="9144">
            <a:normAutofit/>
          </a:bodyPr>
          <a:lstStyle/>
          <a:p>
            <a:r>
              <a:rPr sz="1000" b="0">
                <a:solidFill>
                  <a:srgbClr val="705F44"/>
                </a:solidFill>
                <a:latin typeface="Aptos"/>
              </a:rPr>
              <a:t>Patterns from this engagement that can be lifted directly into the next pharma client conversation.</a:t>
            </a:r>
          </a:p>
        </p:txBody>
      </p:sp>
      <p:sp>
        <p:nvSpPr>
          <p:cNvPr id="10" name="TextBox 9"/>
          <p:cNvSpPr txBox="1"/>
          <p:nvPr/>
        </p:nvSpPr>
        <p:spPr>
          <a:xfrm>
            <a:off x="594360" y="6473952"/>
            <a:ext cx="6400800" cy="182880"/>
          </a:xfrm>
          <a:prstGeom prst="rect">
            <a:avLst/>
          </a:prstGeom>
          <a:noFill/>
        </p:spPr>
        <p:txBody>
          <a:bodyPr wrap="square" lIns="18288" rIns="18288" tIns="9144" bIns="9144">
            <a:normAutofit/>
          </a:bodyPr>
          <a:lstStyle/>
          <a:p>
            <a:r>
              <a:rPr sz="700" b="0">
                <a:solidFill>
                  <a:srgbClr val="705F44"/>
                </a:solidFill>
                <a:latin typeface="Aptos"/>
              </a:rPr>
              <a:t>BLITZ Enterprise Intelligence | Generated from cited RAG synthesis</a:t>
            </a:r>
          </a:p>
        </p:txBody>
      </p:sp>
      <p:sp>
        <p:nvSpPr>
          <p:cNvPr id="11" name="TextBox 10"/>
          <p:cNvSpPr txBox="1"/>
          <p:nvPr/>
        </p:nvSpPr>
        <p:spPr>
          <a:xfrm>
            <a:off x="11201400" y="6446520"/>
            <a:ext cx="411480" cy="201168"/>
          </a:xfrm>
          <a:prstGeom prst="rect">
            <a:avLst/>
          </a:prstGeom>
          <a:noFill/>
        </p:spPr>
        <p:txBody>
          <a:bodyPr wrap="square" lIns="18288" rIns="18288" tIns="9144" bIns="9144">
            <a:normAutofit/>
          </a:bodyPr>
          <a:lstStyle/>
          <a:p>
            <a:pPr algn="r"/>
            <a:r>
              <a:rPr sz="800" b="1">
                <a:solidFill>
                  <a:srgbClr val="B58930"/>
                </a:solidFill>
                <a:latin typeface="Aptos"/>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5943600" cy="228600"/>
          </a:xfrm>
          <a:prstGeom prst="rect">
            <a:avLst/>
          </a:prstGeom>
          <a:noFill/>
        </p:spPr>
        <p:txBody>
          <a:bodyPr wrap="square" lIns="18288" rIns="18288" tIns="9144" bIns="9144">
            <a:normAutofit/>
          </a:bodyPr>
          <a:lstStyle/>
          <a:p>
            <a:r>
              <a:rPr sz="800" b="1">
                <a:solidFill>
                  <a:srgbClr val="B58930"/>
                </a:solidFill>
                <a:latin typeface="Aptos"/>
              </a:rPr>
              <a:t>FULL SOURCE LIST</a:t>
            </a:r>
          </a:p>
        </p:txBody>
      </p:sp>
      <p:sp>
        <p:nvSpPr>
          <p:cNvPr id="4" name="TextBox 3"/>
          <p:cNvSpPr txBox="1"/>
          <p:nvPr/>
        </p:nvSpPr>
        <p:spPr>
          <a:xfrm>
            <a:off x="594360" y="566928"/>
            <a:ext cx="10515600" cy="566928"/>
          </a:xfrm>
          <a:prstGeom prst="rect">
            <a:avLst/>
          </a:prstGeom>
          <a:noFill/>
        </p:spPr>
        <p:txBody>
          <a:bodyPr wrap="square" lIns="18288" rIns="18288" tIns="9144" bIns="9144">
            <a:normAutofit/>
          </a:bodyPr>
          <a:lstStyle/>
          <a:p>
            <a:r>
              <a:rPr sz="2400" b="1">
                <a:solidFill>
                  <a:srgbClr val="2B2319"/>
                </a:solidFill>
                <a:latin typeface="Aptos"/>
              </a:rPr>
              <a:t>Appendix: Referenced Documents</a:t>
            </a:r>
          </a:p>
        </p:txBody>
      </p:sp>
      <p:sp>
        <p:nvSpPr>
          <p:cNvPr id="5" name="Rectangle 4"/>
          <p:cNvSpPr/>
          <p:nvPr/>
        </p:nvSpPr>
        <p:spPr>
          <a:xfrm>
            <a:off x="594360" y="1207008"/>
            <a:ext cx="10972800" cy="9144"/>
          </a:xfrm>
          <a:prstGeom prst="rect">
            <a:avLst/>
          </a:prstGeom>
          <a:solidFill>
            <a:srgbClr val="DEC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508760"/>
            <a:ext cx="10515600" cy="4389120"/>
          </a:xfrm>
          <a:prstGeom prst="rect">
            <a:avLst/>
          </a:prstGeom>
          <a:noFill/>
        </p:spPr>
        <p:txBody>
          <a:bodyPr wrap="square" lIns="18288" rIns="45720" tIns="18288" bIns="18288">
            <a:normAutofit/>
          </a:bodyPr>
          <a:lstStyle/>
          <a:p>
            <a:pPr>
              <a:spcAft>
                <a:spcPts val="500"/>
              </a:spcAft>
              <a:defRPr sz="1200">
                <a:solidFill>
                  <a:srgbClr val="2B2319"/>
                </a:solidFill>
                <a:latin typeface="Aptos"/>
              </a:defRPr>
            </a:pPr>
            <a:r>
              <a:t>- Doc 1: Client - Stemline (US) | Biolumina Support Data... | Client: Client - Stemline (... | POC: Gaurav</a:t>
            </a:r>
          </a:p>
          <a:p>
            <a:pPr>
              <a:spcAft>
                <a:spcPts val="500"/>
              </a:spcAft>
              <a:defRPr sz="1200">
                <a:solidFill>
                  <a:srgbClr val="2B2319"/>
                </a:solidFill>
                <a:latin typeface="Aptos"/>
              </a:defRPr>
            </a:pPr>
            <a:r>
              <a:t>- Doc 2: Client - Stemline (US) | ORS Segment HCPs with... | Client: Client - Stemline (... | POC: Gaurav</a:t>
            </a:r>
          </a:p>
          <a:p>
            <a:pPr>
              <a:spcAft>
                <a:spcPts val="500"/>
              </a:spcAft>
              <a:defRPr sz="1200">
                <a:solidFill>
                  <a:srgbClr val="2B2319"/>
                </a:solidFill>
                <a:latin typeface="Aptos"/>
              </a:defRPr>
            </a:pPr>
            <a:r>
              <a:t>- Doc 3: Client - Stemline (US) | ORS Growth Drivers 202... | Client: Client - Stemline (... | POC: Gaurav</a:t>
            </a:r>
          </a:p>
          <a:p>
            <a:pPr>
              <a:spcAft>
                <a:spcPts val="500"/>
              </a:spcAft>
              <a:defRPr sz="1200">
                <a:solidFill>
                  <a:srgbClr val="2B2319"/>
                </a:solidFill>
                <a:latin typeface="Aptos"/>
              </a:defRPr>
            </a:pPr>
            <a:r>
              <a:t>- Doc 4: Client - Stemline (US) | Stemline Orserdu CONNE... | Client: Client - Stemline (... | POC: Gaurav</a:t>
            </a:r>
          </a:p>
        </p:txBody>
      </p:sp>
      <p:sp>
        <p:nvSpPr>
          <p:cNvPr id="7" name="TextBox 6"/>
          <p:cNvSpPr txBox="1"/>
          <p:nvPr/>
        </p:nvSpPr>
        <p:spPr>
          <a:xfrm>
            <a:off x="594360" y="6473952"/>
            <a:ext cx="6400800" cy="182880"/>
          </a:xfrm>
          <a:prstGeom prst="rect">
            <a:avLst/>
          </a:prstGeom>
          <a:noFill/>
        </p:spPr>
        <p:txBody>
          <a:bodyPr wrap="square" lIns="18288" rIns="18288" tIns="9144" bIns="9144">
            <a:normAutofit/>
          </a:bodyPr>
          <a:lstStyle/>
          <a:p>
            <a:r>
              <a:rPr sz="700" b="0">
                <a:solidFill>
                  <a:srgbClr val="705F44"/>
                </a:solidFill>
                <a:latin typeface="Aptos"/>
              </a:rPr>
              <a:t>BLITZ Enterprise Intelligence | Generated from cited RAG synthesis</a:t>
            </a:r>
          </a:p>
        </p:txBody>
      </p:sp>
      <p:sp>
        <p:nvSpPr>
          <p:cNvPr id="8" name="TextBox 7"/>
          <p:cNvSpPr txBox="1"/>
          <p:nvPr/>
        </p:nvSpPr>
        <p:spPr>
          <a:xfrm>
            <a:off x="11201400" y="6446520"/>
            <a:ext cx="411480" cy="201168"/>
          </a:xfrm>
          <a:prstGeom prst="rect">
            <a:avLst/>
          </a:prstGeom>
          <a:noFill/>
        </p:spPr>
        <p:txBody>
          <a:bodyPr wrap="square" lIns="18288" rIns="18288" tIns="9144" bIns="9144">
            <a:normAutofit/>
          </a:bodyPr>
          <a:lstStyle/>
          <a:p>
            <a:pPr algn="r"/>
            <a:r>
              <a:rPr sz="800" b="1">
                <a:solidFill>
                  <a:srgbClr val="B58930"/>
                </a:solidFill>
                <a:latin typeface="Aptos"/>
              </a:rPr>
              <a:t>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