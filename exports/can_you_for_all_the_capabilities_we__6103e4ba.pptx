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B58930"/>
                </a:solidFill>
                <a:latin typeface="Aptos"/>
              </a:rPr>
              <a:t>BLITZ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7863840" cy="10972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3400" b="1">
                <a:solidFill>
                  <a:srgbClr val="2B2319"/>
                </a:solidFill>
                <a:latin typeface="Aptos"/>
              </a:rPr>
              <a:t>can you for all the capabilities we have done and delivarble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16352"/>
            <a:ext cx="60350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0">
                <a:solidFill>
                  <a:srgbClr val="705F44"/>
                </a:solidFill>
                <a:latin typeface="Aptos"/>
              </a:rPr>
              <a:t>Generated by BLITZ Enterprise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22191"/>
            <a:ext cx="5394960" cy="132588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B2319"/>
                </a:solidFill>
                <a:latin typeface="Aptos"/>
              </a:defRPr>
            </a:pPr>
            <a:r>
              <a:t>- [Doc 1] CI_AIVYCapability_20260121_v1.pptx | Client: Capability Decks | POC: Unknown</a:t>
            </a:r>
          </a:p>
          <a:p>
            <a:pPr>
              <a:spcAft>
                <a:spcPts val="500"/>
              </a:spcAft>
              <a:defRPr sz="1300">
                <a:solidFill>
                  <a:srgbClr val="2B2319"/>
                </a:solidFill>
                <a:latin typeface="Aptos"/>
              </a:defRPr>
            </a:pPr>
            <a:r>
              <a:t>- [Doc 2] CI_CapabilityOverview_20260121_v1.pptx | Client: Capability Decks | POC: Kamakshi</a:t>
            </a:r>
          </a:p>
        </p:txBody>
      </p:sp>
      <p:sp>
        <p:nvSpPr>
          <p:cNvPr id="7" name="Oval 6"/>
          <p:cNvSpPr/>
          <p:nvPr/>
        </p:nvSpPr>
        <p:spPr>
          <a:xfrm>
            <a:off x="7635240" y="1188720"/>
            <a:ext cx="3291840" cy="3291840"/>
          </a:xfrm>
          <a:prstGeom prst="ellipse">
            <a:avLst/>
          </a:prstGeom>
          <a:solidFill>
            <a:srgbClr val="F4E6BB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2148840"/>
            <a:ext cx="1645920" cy="54864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3200" b="1">
                <a:solidFill>
                  <a:srgbClr val="B58930"/>
                </a:solidFill>
                <a:latin typeface="Aptos"/>
              </a:rPr>
              <a:t>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834640"/>
            <a:ext cx="2240280" cy="7315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0">
                <a:solidFill>
                  <a:srgbClr val="705F44"/>
                </a:solidFill>
                <a:latin typeface="Aptos"/>
              </a:rPr>
              <a:t>Cited synthesis</a:t>
            </a:r>
            <a:br/>
            <a:r>
              <a:t>Source mapping</a:t>
            </a:r>
            <a:br/>
            <a:r>
              <a:t>Proposal-ready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DECISION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257800" cy="224028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[Doc 1] CI_AIVYCapability_20260121_v1.pptx | Client: Capability Decks | POC: Unknown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[Doc 2] CI_CapabilityOverview_20260121_v1.pptx | Client: Capability Decks | POC: Kamakshi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00200"/>
            <a:ext cx="4526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7688" y="1746504"/>
            <a:ext cx="412394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Business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7688" y="2167128"/>
            <a:ext cx="4123944" cy="112471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can you generate a ppt for all the capabilities we have done and delivarbles for stemline?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794760"/>
            <a:ext cx="4389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9128" y="3941064"/>
            <a:ext cx="398678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Recommended posture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4361688"/>
            <a:ext cx="3986784" cy="66751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Use prior Chryselys evidence to shape a focused client conversation and accelerate proposal development.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EVIDENCE-BACKED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Relevant Chryselys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2011680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Capability Decks | CI_AIVYCapability_20260121_v1.pptx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39696"/>
            <a:ext cx="2752344" cy="28620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The document provides an overview of Chryselys' Agentic AI platform, AIVY, and its key capabilities in the areas of market research, learning enhance... | POC: Unknown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737360"/>
            <a:ext cx="82296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72768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19072"/>
            <a:ext cx="2011680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Capability Decks | CI_CapabilityOverview_20260121_v1.pptx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39696"/>
            <a:ext cx="2752344" cy="28620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This document provides an overview of Chryselys' capabilities in delivering comprehensive market assessments and competitive intelligence for the pha... | POC: Kamakshi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82296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Doc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058400" cy="32918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100" b="0">
                <a:solidFill>
                  <a:srgbClr val="705F44"/>
                </a:solidFill>
                <a:latin typeface="Aptos"/>
              </a:rPr>
              <a:t>Each experience card is source-backed and intended as a prompt for proposal narrative, SME follow-up, and client-facing proof 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EXECUTION STORYLINE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Recommended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9047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Clarify the client objective and decision context.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382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9312" y="2084832"/>
            <a:ext cx="1920240" cy="22860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Map relevant prior work, datasets, and subject matter expertise.</a:t>
            </a:r>
          </a:p>
        </p:txBody>
      </p:sp>
      <p:sp>
        <p:nvSpPr>
          <p:cNvPr id="14" name="Oval 13"/>
          <p:cNvSpPr/>
          <p:nvPr/>
        </p:nvSpPr>
        <p:spPr>
          <a:xfrm>
            <a:off x="5166360" y="1828800"/>
            <a:ext cx="530352" cy="530352"/>
          </a:xfrm>
          <a:prstGeom prst="ellipse">
            <a:avLst/>
          </a:prstGeom>
          <a:solidFill>
            <a:srgbClr val="B5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1911096"/>
            <a:ext cx="22860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2615184"/>
            <a:ext cx="1719072" cy="9326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000" b="1">
                <a:solidFill>
                  <a:srgbClr val="2B2319"/>
                </a:solidFill>
                <a:latin typeface="Aptos"/>
              </a:rPr>
              <a:t>Shape the response into a proposal-ready storyline with cited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RAG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Evidence &amp; Source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53312"/>
            <a:ext cx="356616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353312"/>
            <a:ext cx="128016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353312"/>
            <a:ext cx="132588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POC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353312"/>
            <a:ext cx="342900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1">
                <a:solidFill>
                  <a:srgbClr val="B58930"/>
                </a:solidFill>
                <a:latin typeface="Aptos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59436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Doc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27632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2B2319"/>
                </a:solidFill>
                <a:latin typeface="Aptos"/>
              </a:rPr>
              <a:t>Capability Decks | CI_AIVYCapability_20260121_v1.pp...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627632"/>
            <a:ext cx="1143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Capability Decks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27632"/>
            <a:ext cx="1188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Unknown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627632"/>
            <a:ext cx="3429000" cy="3474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The document provides an overview of Chryselys' Agentic AI platform, AIVY, and its key...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084832"/>
            <a:ext cx="1037844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377440"/>
            <a:ext cx="594360" cy="21945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Doc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377440"/>
            <a:ext cx="3429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2B2319"/>
                </a:solidFill>
                <a:latin typeface="Aptos"/>
              </a:rPr>
              <a:t>Capability Decks | CI_CapabilityOverview_20260121_v...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377440"/>
            <a:ext cx="114300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Capability Decks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377440"/>
            <a:ext cx="1188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Kamakshi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377440"/>
            <a:ext cx="3429000" cy="3474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This document provides an overview of Chryselys' capabilities in delivering comprehensi...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834640"/>
            <a:ext cx="1037844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PATH TO CLIENT-READY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Suggested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212080" cy="210312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Validate source fit with the listed POCs.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Confirm scope, data availability, and deliverable expectations.</a:t>
            </a:r>
          </a:p>
          <a:p>
            <a:pPr>
              <a:spcAft>
                <a:spcPts val="500"/>
              </a:spcAft>
              <a:defRPr sz="1600">
                <a:solidFill>
                  <a:srgbClr val="2B2319"/>
                </a:solidFill>
                <a:latin typeface="Aptos"/>
              </a:defRPr>
            </a:pPr>
            <a:r>
              <a:t>- Convert the recommended approach into a client-facing proposal deck.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91640"/>
            <a:ext cx="4297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C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4848" y="1837944"/>
            <a:ext cx="3895344" cy="310896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200" b="1">
                <a:solidFill>
                  <a:srgbClr val="2B2319"/>
                </a:solidFill>
                <a:latin typeface="Aptos"/>
              </a:rPr>
              <a:t>BLITZ output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2258568"/>
            <a:ext cx="3895344" cy="15361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0">
                <a:solidFill>
                  <a:srgbClr val="705F44"/>
                </a:solidFill>
                <a:latin typeface="Aptos"/>
              </a:rPr>
              <a:t>This deck combines the RAG answer, source provenance, and recommended proposal motion into one reusable enablement artifact.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B58930"/>
                </a:solidFill>
                <a:latin typeface="Aptos"/>
              </a:rPr>
              <a:t>FULL SOURCE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66928"/>
            <a:ext cx="7680960" cy="56692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400" b="1">
                <a:solidFill>
                  <a:srgbClr val="2B2319"/>
                </a:solidFill>
                <a:latin typeface="Aptos"/>
              </a:rPr>
              <a:t>Appendix: Referenced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07008"/>
            <a:ext cx="10972800" cy="9144"/>
          </a:xfrm>
          <a:prstGeom prst="rect">
            <a:avLst/>
          </a:prstGeom>
          <a:solidFill>
            <a:srgbClr val="DEC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332720" cy="4389120"/>
          </a:xfrm>
          <a:prstGeom prst="rect">
            <a:avLst/>
          </a:prstGeom>
          <a:noFill/>
        </p:spPr>
        <p:txBody>
          <a:bodyPr wrap="square" lIns="18288" rIns="45720" tIns="18288" bIns="18288">
            <a:norm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B2319"/>
                </a:solidFill>
                <a:latin typeface="Aptos"/>
              </a:defRPr>
            </a:pPr>
            <a:r>
              <a:t>- Doc 1: Capability Decks | CI_AIVYCapability_20260121_v1.pptx | Client: Capability Decks | POC: Unknown</a:t>
            </a:r>
          </a:p>
          <a:p>
            <a:pPr>
              <a:spcAft>
                <a:spcPts val="500"/>
              </a:spcAft>
              <a:defRPr sz="1000">
                <a:solidFill>
                  <a:srgbClr val="2B2319"/>
                </a:solidFill>
                <a:latin typeface="Aptos"/>
              </a:defRPr>
            </a:pPr>
            <a:r>
              <a:t>- Doc 2: Capability Decks | CI_CapabilityOverview_20260121_v1.pptx | Client: Capability Decks | POC: Kamak...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6400800" cy="1828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705F44"/>
                </a:solidFill>
                <a:latin typeface="Aptos"/>
              </a:rPr>
              <a:t>BLITZ Enterprise Intelligence | Generated from cited RAG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800" b="1">
                <a:solidFill>
                  <a:srgbClr val="B5893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