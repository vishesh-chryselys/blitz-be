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55448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B58930"/>
                </a:solidFill>
                <a:latin typeface="Aptos"/>
              </a:rPr>
              <a:t>BLITZ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6537960" cy="10058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3100" b="1">
                <a:solidFill>
                  <a:srgbClr val="2B2319"/>
                </a:solidFill>
                <a:latin typeface="Aptos"/>
              </a:rPr>
              <a:t>Patient Finder PoC: Advanced Analytics for Patient Identi...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70632"/>
            <a:ext cx="571500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0">
                <a:solidFill>
                  <a:srgbClr val="705F44"/>
                </a:solidFill>
                <a:latin typeface="Aptos"/>
              </a:rPr>
              <a:t>Chryselys Enterprise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30752"/>
            <a:ext cx="5303520" cy="137160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B2319"/>
                </a:solidFill>
                <a:latin typeface="Aptos"/>
              </a:defRPr>
            </a:pPr>
            <a:r>
              <a:t>- Leverage advanced machine learning models to identify undiagnosed or undertreated patient populations</a:t>
            </a:r>
          </a:p>
          <a:p>
            <a:pPr>
              <a:spcAft>
                <a:spcPts val="500"/>
              </a:spcAft>
              <a:defRPr sz="1200">
                <a:solidFill>
                  <a:srgbClr val="2B2319"/>
                </a:solidFill>
                <a:latin typeface="Aptos"/>
              </a:defRPr>
            </a:pPr>
            <a:r>
              <a:t>- Enhance visibility into patient progression patterns through longitudinal analysis and explainable AI</a:t>
            </a:r>
          </a:p>
          <a:p>
            <a:pPr>
              <a:spcAft>
                <a:spcPts val="500"/>
              </a:spcAft>
              <a:defRPr sz="1200">
                <a:solidFill>
                  <a:srgbClr val="2B2319"/>
                </a:solidFill>
                <a:latin typeface="Aptos"/>
              </a:defRPr>
            </a:pPr>
            <a:r>
              <a:t>- Deliver predictive capabilities to optimize patient targeting and clinical decision-making</a:t>
            </a:r>
          </a:p>
        </p:txBody>
      </p:sp>
      <p:sp>
        <p:nvSpPr>
          <p:cNvPr id="7" name="Oval 6"/>
          <p:cNvSpPr/>
          <p:nvPr/>
        </p:nvSpPr>
        <p:spPr>
          <a:xfrm>
            <a:off x="7909560" y="1234440"/>
            <a:ext cx="3063240" cy="3063240"/>
          </a:xfrm>
          <a:prstGeom prst="ellipse">
            <a:avLst/>
          </a:prstGeom>
          <a:solidFill>
            <a:srgbClr val="F4E6BB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2148840"/>
            <a:ext cx="1600200" cy="5029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3000" b="1">
                <a:solidFill>
                  <a:srgbClr val="B58930"/>
                </a:solidFill>
                <a:latin typeface="Aptos"/>
              </a:rPr>
              <a:t>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816352"/>
            <a:ext cx="2240280" cy="7315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100" b="0">
                <a:solidFill>
                  <a:srgbClr val="705F44"/>
                </a:solidFill>
                <a:latin typeface="Aptos"/>
              </a:rPr>
              <a:t>Cited synthesis</a:t>
            </a:r>
            <a:br/>
            <a:r>
              <a:t>Source mapping</a:t>
            </a:r>
            <a:br/>
            <a:r>
              <a:t>Proposal-ready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DECISION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5074920" cy="224028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B2319"/>
                </a:solidFill>
                <a:latin typeface="Aptos"/>
              </a:defRPr>
            </a:pPr>
            <a:r>
              <a:t>- Leverage advanced machine learning models to identify undiagnosed or undertreated patient populations</a:t>
            </a:r>
          </a:p>
          <a:p>
            <a:pPr>
              <a:spcAft>
                <a:spcPts val="500"/>
              </a:spcAft>
              <a:defRPr sz="1500">
                <a:solidFill>
                  <a:srgbClr val="2B2319"/>
                </a:solidFill>
                <a:latin typeface="Aptos"/>
              </a:defRPr>
            </a:pPr>
            <a:r>
              <a:t>- Enhance visibility into patient progression patterns through longitudinal analysis and explainable AI</a:t>
            </a:r>
          </a:p>
          <a:p>
            <a:pPr>
              <a:spcAft>
                <a:spcPts val="500"/>
              </a:spcAft>
              <a:defRPr sz="1500">
                <a:solidFill>
                  <a:srgbClr val="2B2319"/>
                </a:solidFill>
                <a:latin typeface="Aptos"/>
              </a:defRPr>
            </a:pPr>
            <a:r>
              <a:t>- Deliver predictive capabilities to optimize patient targeting and clinical decision-making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600200"/>
            <a:ext cx="43891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47688" y="1746504"/>
            <a:ext cx="3986784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2B2319"/>
                </a:solidFill>
                <a:latin typeface="Aptos"/>
              </a:rPr>
              <a:t>Business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7688" y="2167128"/>
            <a:ext cx="3986784" cy="1124711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Our client is seeking to improve their ability to identify undiagnosed or undertreated patient populations, gain deeper visibility into patient progression pat...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3794760"/>
            <a:ext cx="4389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3941064"/>
            <a:ext cx="3986784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2B2319"/>
                </a:solidFill>
                <a:latin typeface="Aptos"/>
              </a:rPr>
              <a:t>Recommended posture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4361688"/>
            <a:ext cx="3986784" cy="66751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Use cited Chryselys evidence to shape proposal narrative and client next steps.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EVIDENCE-BACKED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Relevant Chryselys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72768"/>
            <a:ext cx="31546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2011680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2B2319"/>
                </a:solidFill>
                <a:latin typeface="Aptos"/>
              </a:rPr>
              <a:t>Advanced ML Architecture for Patient Predicti...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39696"/>
            <a:ext cx="2752344" cy="28620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Leveraged combined RNN and ANN models to predict IgAN patients with high accuracy, drawing insights from multiple data sourc... | POC: Unknown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737360"/>
            <a:ext cx="82296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Doc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72768"/>
            <a:ext cx="31546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719072"/>
            <a:ext cx="2011680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2B2319"/>
                </a:solidFill>
                <a:latin typeface="Aptos"/>
              </a:rPr>
              <a:t>Proven Results in Patient Switching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139696"/>
            <a:ext cx="2752344" cy="28620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Achieved 75% accuracy in predicting patient switching from a leading HIV therapy, generating $8M in business impact | POC: Unknown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37360"/>
            <a:ext cx="82296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Doc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10058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100" b="0">
                <a:solidFill>
                  <a:srgbClr val="705F44"/>
                </a:solidFill>
                <a:latin typeface="Aptos"/>
              </a:rPr>
              <a:t>Each experience card is source-backed and intended as a prompt for proposal narrative, SME follow-up, and client-facing proof points.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EXECUTION STORYLINE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Recommended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1911096"/>
            <a:ext cx="228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90472" y="2084832"/>
            <a:ext cx="1920240" cy="22860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615184"/>
            <a:ext cx="1719072" cy="93268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000" b="1">
                <a:solidFill>
                  <a:srgbClr val="2B2319"/>
                </a:solidFill>
                <a:latin typeface="Aptos"/>
              </a:rPr>
              <a:t>Combine recurrent neural networks (RNN) and artificial neural networks...</a:t>
            </a:r>
          </a:p>
        </p:txBody>
      </p:sp>
      <p:sp>
        <p:nvSpPr>
          <p:cNvPr id="10" name="Oval 9"/>
          <p:cNvSpPr/>
          <p:nvPr/>
        </p:nvSpPr>
        <p:spPr>
          <a:xfrm>
            <a:off x="301752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63824" y="1911096"/>
            <a:ext cx="228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9312" y="2084832"/>
            <a:ext cx="1920240" cy="22860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2615184"/>
            <a:ext cx="1719072" cy="93268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000" b="1">
                <a:solidFill>
                  <a:srgbClr val="2B2319"/>
                </a:solidFill>
                <a:latin typeface="Aptos"/>
              </a:rPr>
              <a:t>Perform feature engineering from multiple data sources, including claim...</a:t>
            </a:r>
          </a:p>
        </p:txBody>
      </p:sp>
      <p:sp>
        <p:nvSpPr>
          <p:cNvPr id="14" name="Oval 13"/>
          <p:cNvSpPr/>
          <p:nvPr/>
        </p:nvSpPr>
        <p:spPr>
          <a:xfrm>
            <a:off x="516636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2664" y="1911096"/>
            <a:ext cx="228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88152" y="2084832"/>
            <a:ext cx="1920240" cy="22860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1768" y="2615184"/>
            <a:ext cx="1719072" cy="93268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000" b="1">
                <a:solidFill>
                  <a:srgbClr val="2B2319"/>
                </a:solidFill>
                <a:latin typeface="Aptos"/>
              </a:rPr>
              <a:t>Leverage longitudinal analysis to assess event sequences and recency ef...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1504" y="1911096"/>
            <a:ext cx="228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8" y="2615184"/>
            <a:ext cx="1719072" cy="93268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000" b="1">
                <a:solidFill>
                  <a:srgbClr val="2B2319"/>
                </a:solidFill>
                <a:latin typeface="Aptos"/>
              </a:rPr>
              <a:t>Utilize explainable AI techniques, such as SHAP values, to understand k...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RAG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Evidence &amp; Source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89888"/>
            <a:ext cx="306324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389888"/>
            <a:ext cx="1143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389888"/>
            <a:ext cx="123444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POC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389888"/>
            <a:ext cx="3886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Why it matters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645920"/>
            <a:ext cx="106527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737360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Doc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737360"/>
            <a:ext cx="2971800" cy="3017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2B2319"/>
                </a:solidFill>
                <a:latin typeface="Aptos"/>
              </a:rPr>
              <a:t>Capability Decks | DataScience_PatientFin...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737360"/>
            <a:ext cx="1078992" cy="3017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Capability Decks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1737360"/>
            <a:ext cx="1170432" cy="3017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Unknown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737360"/>
            <a:ext cx="3886200" cy="38404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The document outlines a patient finder solution that leverages the patient journey, advanced ma...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267712"/>
            <a:ext cx="1014984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2578608"/>
            <a:ext cx="106527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2670048"/>
            <a:ext cx="50292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Doc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670048"/>
            <a:ext cx="2971800" cy="3017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2B2319"/>
                </a:solidFill>
                <a:latin typeface="Aptos"/>
              </a:rPr>
              <a:t>Capability Decks | CommercialAnalytics_Pa...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670048"/>
            <a:ext cx="1078992" cy="3017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Capability Decks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2670048"/>
            <a:ext cx="1170432" cy="3017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Unknown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670048"/>
            <a:ext cx="3886200" cy="38404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This document provides an overview of Chryselys' patient journey analysis and predictive modeli...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200400"/>
            <a:ext cx="1014984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PATH TO CLIENT-READY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Suggested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5212080" cy="210312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Define the target patient population and use case for the PoC</a:t>
            </a:r>
          </a:p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Determine the data requirements and integration timeline</a:t>
            </a:r>
          </a:p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Establish success metrics and a validation approach for the PoC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91640"/>
            <a:ext cx="4297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84848" y="1837944"/>
            <a:ext cx="3895344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100" b="1">
                <a:solidFill>
                  <a:srgbClr val="2B2319"/>
                </a:solidFill>
                <a:latin typeface="Aptos"/>
              </a:rPr>
              <a:t>BLITZ output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4848" y="2258568"/>
            <a:ext cx="3895344" cy="15361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This deck combines the RAG answer, source provenance, and recommended proposal motion into one reusable enablement artifact.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FULL SOURCE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Appendix: Referenced Documents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332720" cy="438912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900">
                <a:solidFill>
                  <a:srgbClr val="2B2319"/>
                </a:solidFill>
                <a:latin typeface="Aptos"/>
              </a:defRPr>
            </a:pPr>
            <a:r>
              <a:t>- Doc 1: Capability Decks | DataScience_PatientFinder_Ov... | Client: Capability Decks | POC: Unknown</a:t>
            </a:r>
          </a:p>
          <a:p>
            <a:pPr>
              <a:spcAft>
                <a:spcPts val="500"/>
              </a:spcAft>
              <a:defRPr sz="900">
                <a:solidFill>
                  <a:srgbClr val="2B2319"/>
                </a:solidFill>
                <a:latin typeface="Aptos"/>
              </a:defRPr>
            </a:pPr>
            <a:r>
              <a:t>- Doc 2: Capability Decks | CommercialAnalytics_PatientJ... | Client: Capability Decks | POC: Unknown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