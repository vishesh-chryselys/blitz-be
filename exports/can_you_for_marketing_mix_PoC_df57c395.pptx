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by framing this as Chryselys' synthesized intelligence on can you for marketing mix PoC. Hero: Achieved 25% increase in ROI on promotional spend for a leading diabetes brand.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Most pharma marketing teams can't definitively prove which promotional activities are actually driving incremental sales versus just maintaining baseline performance. Our marketing mix modeling approach uses advanced statistical techniques to break down exactly what's working and where you should allocate your budget for maximum ROI.</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We'll start by integrating all your promotional touchpoints into our proven statistical framework that quantifies exactly which activities drive incremental sales. The end result is clear ROI metrics and actionable budget recommendations that optimize your marketing spend for sustainable growth.</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engagement demonstrates our core marketing mix modeling capability that helps pharma clients understand which promotional activities actually drive incremental sales. We use advanced statistical methods to analyze both personal and non-personal promotional data, delivering clear ROI metrics and actionable budget optimization recommendations.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helped this pharmaceutical client transform their promotional strategy by combining sales and promotional data with advanced analytics. Our integrated approach delivered actionable insights that directly enhanced their field activities and overall program effectiveness.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move forward with your marketing mix PoC, we need to first understand your current data landscape and analytical capabilities. We'll then work together to define a focused scope that demonstrates clear ROI impact, and ensure we have the right data access to deliver meaningful insights within your timeline.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every source document this deck drew on. Each row is a real Chryselys deliverable you can follow up on with the listed POC.</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411480"/>
            <a:ext cx="1554480" cy="274320"/>
          </a:xfrm>
          <a:prstGeom prst="rect">
            <a:avLst/>
          </a:prstGeom>
          <a:noFill/>
        </p:spPr>
        <p:txBody>
          <a:bodyPr wrap="square" lIns="18288" rIns="18288" tIns="9144" bIns="9144">
            <a:normAutofit/>
          </a:bodyPr>
          <a:lstStyle/>
          <a:p>
            <a:r>
              <a:rPr sz="1400" b="1">
                <a:solidFill>
                  <a:srgbClr val="B58930"/>
                </a:solidFill>
                <a:latin typeface="Aptos"/>
              </a:rPr>
              <a:t>BLITZ</a:t>
            </a:r>
          </a:p>
        </p:txBody>
      </p:sp>
      <p:sp>
        <p:nvSpPr>
          <p:cNvPr id="4" name="TextBox 3"/>
          <p:cNvSpPr txBox="1"/>
          <p:nvPr/>
        </p:nvSpPr>
        <p:spPr>
          <a:xfrm>
            <a:off x="658368" y="1600200"/>
            <a:ext cx="7040880" cy="1188720"/>
          </a:xfrm>
          <a:prstGeom prst="rect">
            <a:avLst/>
          </a:prstGeom>
          <a:noFill/>
        </p:spPr>
        <p:txBody>
          <a:bodyPr wrap="square" lIns="18288" rIns="18288" tIns="9144" bIns="9144">
            <a:normAutofit/>
          </a:bodyPr>
          <a:lstStyle/>
          <a:p>
            <a:r>
              <a:rPr sz="3100" b="1">
                <a:solidFill>
                  <a:srgbClr val="2B2319"/>
                </a:solidFill>
                <a:latin typeface="Aptos"/>
              </a:rPr>
              <a:t>Optimizing Your Marketing Mix for Sustainable Growth</a:t>
            </a:r>
          </a:p>
        </p:txBody>
      </p:sp>
      <p:sp>
        <p:nvSpPr>
          <p:cNvPr id="5" name="TextBox 4"/>
          <p:cNvSpPr txBox="1"/>
          <p:nvPr/>
        </p:nvSpPr>
        <p:spPr>
          <a:xfrm>
            <a:off x="713232" y="2907792"/>
            <a:ext cx="6766560" cy="502920"/>
          </a:xfrm>
          <a:prstGeom prst="rect">
            <a:avLst/>
          </a:prstGeom>
          <a:noFill/>
        </p:spPr>
        <p:txBody>
          <a:bodyPr wrap="square" lIns="18288" rIns="18288" tIns="9144" bIns="9144">
            <a:normAutofit/>
          </a:bodyPr>
          <a:lstStyle/>
          <a:p>
            <a:r>
              <a:rPr sz="1400" b="0">
                <a:solidFill>
                  <a:srgbClr val="705F44"/>
                </a:solidFill>
                <a:latin typeface="Aptos"/>
              </a:rPr>
              <a:t>Leveraging advanced analytics to drive measurable impact and ROI for your pharmaceutical brand</a:t>
            </a:r>
          </a:p>
        </p:txBody>
      </p:sp>
      <p:sp>
        <p:nvSpPr>
          <p:cNvPr id="6" name="Rounded Rectangle 5"/>
          <p:cNvSpPr/>
          <p:nvPr/>
        </p:nvSpPr>
        <p:spPr>
          <a:xfrm>
            <a:off x="658368" y="3703320"/>
            <a:ext cx="7040880" cy="1051560"/>
          </a:xfrm>
          <a:prstGeom prst="roundRect">
            <a:avLst/>
          </a:prstGeom>
          <a:solidFill>
            <a:srgbClr val="F4E6BB"/>
          </a:solidFill>
          <a:ln>
            <a:solidFill>
              <a:srgbClr val="DECB9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3822191"/>
            <a:ext cx="3200400" cy="201168"/>
          </a:xfrm>
          <a:prstGeom prst="rect">
            <a:avLst/>
          </a:prstGeom>
          <a:noFill/>
        </p:spPr>
        <p:txBody>
          <a:bodyPr wrap="square" lIns="18288" rIns="18288" tIns="9144" bIns="9144">
            <a:normAutofit/>
          </a:bodyPr>
          <a:lstStyle/>
          <a:p>
            <a:r>
              <a:rPr sz="800" b="1">
                <a:solidFill>
                  <a:srgbClr val="B58930"/>
                </a:solidFill>
                <a:latin typeface="Aptos"/>
              </a:rPr>
              <a:t>HERO OUTCOME</a:t>
            </a:r>
          </a:p>
        </p:txBody>
      </p:sp>
      <p:sp>
        <p:nvSpPr>
          <p:cNvPr id="8" name="TextBox 7"/>
          <p:cNvSpPr txBox="1"/>
          <p:nvPr/>
        </p:nvSpPr>
        <p:spPr>
          <a:xfrm>
            <a:off x="868680" y="4041648"/>
            <a:ext cx="6675120" cy="594360"/>
          </a:xfrm>
          <a:prstGeom prst="rect">
            <a:avLst/>
          </a:prstGeom>
          <a:noFill/>
        </p:spPr>
        <p:txBody>
          <a:bodyPr wrap="square" lIns="18288" rIns="18288" tIns="9144" bIns="9144">
            <a:normAutofit/>
          </a:bodyPr>
          <a:lstStyle/>
          <a:p>
            <a:r>
              <a:rPr sz="1400" b="1">
                <a:solidFill>
                  <a:srgbClr val="2B2319"/>
                </a:solidFill>
                <a:latin typeface="Aptos"/>
              </a:rPr>
              <a:t>Achieved 25% increase in ROI on promotional spend for a leading diabetes brand</a:t>
            </a:r>
          </a:p>
        </p:txBody>
      </p:sp>
      <p:sp>
        <p:nvSpPr>
          <p:cNvPr id="9" name="Oval 8"/>
          <p:cNvSpPr/>
          <p:nvPr/>
        </p:nvSpPr>
        <p:spPr>
          <a:xfrm>
            <a:off x="8183879" y="1691640"/>
            <a:ext cx="3337560" cy="3337560"/>
          </a:xfrm>
          <a:prstGeom prst="ellipse">
            <a:avLst/>
          </a:prstGeom>
          <a:solidFill>
            <a:srgbClr val="F4E6BB"/>
          </a:solidFill>
          <a:ln>
            <a:solidFill>
              <a:srgbClr val="DECB9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75320" y="2697480"/>
            <a:ext cx="3154680" cy="502920"/>
          </a:xfrm>
          <a:prstGeom prst="rect">
            <a:avLst/>
          </a:prstGeom>
          <a:noFill/>
        </p:spPr>
        <p:txBody>
          <a:bodyPr wrap="square" lIns="18288" rIns="18288" tIns="9144" bIns="9144">
            <a:normAutofit/>
          </a:bodyPr>
          <a:lstStyle/>
          <a:p>
            <a:pPr algn="ctr"/>
            <a:r>
              <a:rPr sz="1600" b="1">
                <a:solidFill>
                  <a:srgbClr val="B58930"/>
                </a:solidFill>
                <a:latin typeface="Aptos"/>
              </a:rPr>
              <a:t>PROPOSAL SCAFFOLD</a:t>
            </a:r>
          </a:p>
        </p:txBody>
      </p:sp>
      <p:sp>
        <p:nvSpPr>
          <p:cNvPr id="11" name="TextBox 10"/>
          <p:cNvSpPr txBox="1"/>
          <p:nvPr/>
        </p:nvSpPr>
        <p:spPr>
          <a:xfrm>
            <a:off x="8275320" y="3337560"/>
            <a:ext cx="3154680" cy="502920"/>
          </a:xfrm>
          <a:prstGeom prst="rect">
            <a:avLst/>
          </a:prstGeom>
          <a:noFill/>
        </p:spPr>
        <p:txBody>
          <a:bodyPr wrap="square" lIns="18288" rIns="18288" tIns="9144" bIns="9144">
            <a:normAutofit/>
          </a:bodyPr>
          <a:lstStyle/>
          <a:p>
            <a:pPr algn="ctr"/>
            <a:r>
              <a:rPr sz="1000" b="0">
                <a:solidFill>
                  <a:srgbClr val="705F44"/>
                </a:solidFill>
                <a:latin typeface="Aptos"/>
              </a:rPr>
              <a:t>Cited synthesis · Source mapping · Proposal-ready</a:t>
            </a:r>
          </a:p>
        </p:txBody>
      </p:sp>
      <p:sp>
        <p:nvSpPr>
          <p:cNvPr id="12" name="TextBox 11"/>
          <p:cNvSpPr txBox="1"/>
          <p:nvPr/>
        </p:nvSpPr>
        <p:spPr>
          <a:xfrm>
            <a:off x="594360" y="6473952"/>
            <a:ext cx="6400800" cy="182880"/>
          </a:xfrm>
          <a:prstGeom prst="rect">
            <a:avLst/>
          </a:prstGeom>
          <a:noFill/>
        </p:spPr>
        <p:txBody>
          <a:bodyPr wrap="square" lIns="18288" rIns="18288" tIns="9144" bIns="9144">
            <a:normAutofit/>
          </a:bodyPr>
          <a:lstStyle/>
          <a:p>
            <a:r>
              <a:rPr sz="700" b="0">
                <a:solidFill>
                  <a:srgbClr val="705F44"/>
                </a:solidFill>
                <a:latin typeface="Aptos"/>
              </a:rPr>
              <a:t>BLITZ Enterprise Intelligence | Generated from cited RAG synthesis</a:t>
            </a:r>
          </a:p>
        </p:txBody>
      </p:sp>
      <p:sp>
        <p:nvSpPr>
          <p:cNvPr id="13" name="TextBox 12"/>
          <p:cNvSpPr txBox="1"/>
          <p:nvPr/>
        </p:nvSpPr>
        <p:spPr>
          <a:xfrm>
            <a:off x="11201400" y="6446520"/>
            <a:ext cx="411480" cy="201168"/>
          </a:xfrm>
          <a:prstGeom prst="rect">
            <a:avLst/>
          </a:prstGeom>
          <a:noFill/>
        </p:spPr>
        <p:txBody>
          <a:bodyPr wrap="square" lIns="18288" rIns="18288" tIns="9144" bIns="9144">
            <a:normAutofit/>
          </a:bodyPr>
          <a:lstStyle/>
          <a:p>
            <a:pPr algn="r"/>
            <a:r>
              <a:rPr sz="800" b="1">
                <a:solidFill>
                  <a:srgbClr val="B58930"/>
                </a:solidFill>
                <a:latin typeface="Aptos"/>
              </a:rPr>
              <a:t>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5943600" cy="228600"/>
          </a:xfrm>
          <a:prstGeom prst="rect">
            <a:avLst/>
          </a:prstGeom>
          <a:noFill/>
        </p:spPr>
        <p:txBody>
          <a:bodyPr wrap="square" lIns="18288" rIns="18288" tIns="9144" bIns="9144">
            <a:normAutofit/>
          </a:bodyPr>
          <a:lstStyle/>
          <a:p>
            <a:r>
              <a:rPr sz="800" b="1">
                <a:solidFill>
                  <a:srgbClr val="B58930"/>
                </a:solidFill>
                <a:latin typeface="Aptos"/>
              </a:rPr>
              <a:t>PROPOSAL BRIEF</a:t>
            </a:r>
          </a:p>
        </p:txBody>
      </p:sp>
      <p:sp>
        <p:nvSpPr>
          <p:cNvPr id="4" name="TextBox 3"/>
          <p:cNvSpPr txBox="1"/>
          <p:nvPr/>
        </p:nvSpPr>
        <p:spPr>
          <a:xfrm>
            <a:off x="594360" y="566928"/>
            <a:ext cx="10515600" cy="566928"/>
          </a:xfrm>
          <a:prstGeom prst="rect">
            <a:avLst/>
          </a:prstGeom>
          <a:noFill/>
        </p:spPr>
        <p:txBody>
          <a:bodyPr wrap="square" lIns="18288" rIns="18288" tIns="9144" bIns="9144">
            <a:normAutofit/>
          </a:bodyPr>
          <a:lstStyle/>
          <a:p>
            <a:r>
              <a:rPr sz="2400" b="1">
                <a:solidFill>
                  <a:srgbClr val="2B2319"/>
                </a:solidFill>
                <a:latin typeface="Aptos"/>
              </a:rPr>
              <a:t>Business Context</a:t>
            </a:r>
          </a:p>
        </p:txBody>
      </p:sp>
      <p:sp>
        <p:nvSpPr>
          <p:cNvPr id="5" name="Rectangle 4"/>
          <p:cNvSpPr/>
          <p:nvPr/>
        </p:nvSpPr>
        <p:spPr>
          <a:xfrm>
            <a:off x="594360" y="1207008"/>
            <a:ext cx="10972800" cy="9144"/>
          </a:xfrm>
          <a:prstGeom prst="rect">
            <a:avLst/>
          </a:prstGeom>
          <a:solidFill>
            <a:srgbClr val="DECB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600200"/>
            <a:ext cx="6766560" cy="4114800"/>
          </a:xfrm>
          <a:prstGeom prst="rect">
            <a:avLst/>
          </a:prstGeom>
          <a:noFill/>
        </p:spPr>
        <p:txBody>
          <a:bodyPr wrap="square" lIns="18288" rIns="45720" tIns="18288" bIns="18288">
            <a:normAutofit/>
          </a:bodyPr>
          <a:lstStyle/>
          <a:p>
            <a:pPr>
              <a:spcAft>
                <a:spcPts val="500"/>
              </a:spcAft>
              <a:defRPr sz="1500">
                <a:solidFill>
                  <a:srgbClr val="2B2319"/>
                </a:solidFill>
                <a:latin typeface="Aptos"/>
              </a:defRPr>
            </a:pPr>
            <a:r>
              <a:t>- Marketing teams struggle to quantify promotional ROI across multiple channels and touchpoints</a:t>
            </a:r>
          </a:p>
          <a:p>
            <a:pPr>
              <a:spcAft>
                <a:spcPts val="500"/>
              </a:spcAft>
              <a:defRPr sz="1500">
                <a:solidFill>
                  <a:srgbClr val="2B2319"/>
                </a:solidFill>
                <a:latin typeface="Aptos"/>
              </a:defRPr>
            </a:pPr>
            <a:r>
              <a:t>- Budget allocation decisions lack data-driven insights into incremental versus sustained sales impact</a:t>
            </a:r>
          </a:p>
          <a:p>
            <a:pPr>
              <a:spcAft>
                <a:spcPts val="500"/>
              </a:spcAft>
              <a:defRPr sz="1500">
                <a:solidFill>
                  <a:srgbClr val="2B2319"/>
                </a:solidFill>
                <a:latin typeface="Aptos"/>
              </a:defRPr>
            </a:pPr>
            <a:r>
              <a:t>- Chryselys combines statistical modeling with integrated promotional analytics to optimize marketing spend</a:t>
            </a:r>
          </a:p>
        </p:txBody>
      </p:sp>
      <p:sp>
        <p:nvSpPr>
          <p:cNvPr id="7" name="Rounded Rectangle 6"/>
          <p:cNvSpPr/>
          <p:nvPr/>
        </p:nvSpPr>
        <p:spPr>
          <a:xfrm>
            <a:off x="7818120" y="1600200"/>
            <a:ext cx="3886200" cy="4069080"/>
          </a:xfrm>
          <a:prstGeom prst="roundRect">
            <a:avLst/>
          </a:prstGeom>
          <a:solidFill>
            <a:srgbClr val="FFFFFF"/>
          </a:solidFill>
          <a:ln>
            <a:solidFill>
              <a:srgbClr val="DECB9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28431" y="1783080"/>
            <a:ext cx="3520440" cy="320040"/>
          </a:xfrm>
          <a:prstGeom prst="rect">
            <a:avLst/>
          </a:prstGeom>
          <a:noFill/>
        </p:spPr>
        <p:txBody>
          <a:bodyPr wrap="square" lIns="18288" rIns="18288" tIns="9144" bIns="9144">
            <a:normAutofit/>
          </a:bodyPr>
          <a:lstStyle/>
          <a:p>
            <a:r>
              <a:rPr sz="1100" b="1">
                <a:solidFill>
                  <a:srgbClr val="B58930"/>
                </a:solidFill>
                <a:latin typeface="Aptos"/>
              </a:rPr>
              <a:t>Why us, why now</a:t>
            </a:r>
          </a:p>
        </p:txBody>
      </p:sp>
      <p:sp>
        <p:nvSpPr>
          <p:cNvPr id="9" name="TextBox 8"/>
          <p:cNvSpPr txBox="1"/>
          <p:nvPr/>
        </p:nvSpPr>
        <p:spPr>
          <a:xfrm>
            <a:off x="8028431" y="2194560"/>
            <a:ext cx="3520440" cy="3246120"/>
          </a:xfrm>
          <a:prstGeom prst="rect">
            <a:avLst/>
          </a:prstGeom>
          <a:noFill/>
        </p:spPr>
        <p:txBody>
          <a:bodyPr wrap="square" lIns="18288" rIns="18288" tIns="9144" bIns="9144">
            <a:normAutofit/>
          </a:bodyPr>
          <a:lstStyle/>
          <a:p>
            <a:r>
              <a:rPr sz="1000" b="0">
                <a:solidFill>
                  <a:srgbClr val="705F44"/>
                </a:solidFill>
                <a:latin typeface="Aptos"/>
              </a:rPr>
              <a:t>Frames the prospect's problem and positions Chryselys as the best-equipped partner to solve it, backed by cited prior work.</a:t>
            </a:r>
          </a:p>
        </p:txBody>
      </p:sp>
      <p:sp>
        <p:nvSpPr>
          <p:cNvPr id="10" name="TextBox 9"/>
          <p:cNvSpPr txBox="1"/>
          <p:nvPr/>
        </p:nvSpPr>
        <p:spPr>
          <a:xfrm>
            <a:off x="594360" y="6473952"/>
            <a:ext cx="6400800" cy="182880"/>
          </a:xfrm>
          <a:prstGeom prst="rect">
            <a:avLst/>
          </a:prstGeom>
          <a:noFill/>
        </p:spPr>
        <p:txBody>
          <a:bodyPr wrap="square" lIns="18288" rIns="18288" tIns="9144" bIns="9144">
            <a:normAutofit/>
          </a:bodyPr>
          <a:lstStyle/>
          <a:p>
            <a:r>
              <a:rPr sz="700" b="0">
                <a:solidFill>
                  <a:srgbClr val="705F44"/>
                </a:solidFill>
                <a:latin typeface="Aptos"/>
              </a:rPr>
              <a:t>BLITZ Enterprise Intelligence | Generated from cited RAG synthesis</a:t>
            </a:r>
          </a:p>
        </p:txBody>
      </p:sp>
      <p:sp>
        <p:nvSpPr>
          <p:cNvPr id="11" name="TextBox 10"/>
          <p:cNvSpPr txBox="1"/>
          <p:nvPr/>
        </p:nvSpPr>
        <p:spPr>
          <a:xfrm>
            <a:off x="11201400" y="6446520"/>
            <a:ext cx="411480" cy="201168"/>
          </a:xfrm>
          <a:prstGeom prst="rect">
            <a:avLst/>
          </a:prstGeom>
          <a:noFill/>
        </p:spPr>
        <p:txBody>
          <a:bodyPr wrap="square" lIns="18288" rIns="18288" tIns="9144" bIns="9144">
            <a:normAutofit/>
          </a:bodyPr>
          <a:lstStyle/>
          <a:p>
            <a:pPr algn="r"/>
            <a:r>
              <a:rPr sz="800" b="1">
                <a:solidFill>
                  <a:srgbClr val="B58930"/>
                </a:solidFill>
                <a:latin typeface="Aptos"/>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5943600" cy="228600"/>
          </a:xfrm>
          <a:prstGeom prst="rect">
            <a:avLst/>
          </a:prstGeom>
          <a:noFill/>
        </p:spPr>
        <p:txBody>
          <a:bodyPr wrap="square" lIns="18288" rIns="18288" tIns="9144" bIns="9144">
            <a:normAutofit/>
          </a:bodyPr>
          <a:lstStyle/>
          <a:p>
            <a:r>
              <a:rPr sz="800" b="1">
                <a:solidFill>
                  <a:srgbClr val="B58930"/>
                </a:solidFill>
                <a:latin typeface="Aptos"/>
              </a:rPr>
              <a:t>PATH TO VALUE</a:t>
            </a:r>
          </a:p>
        </p:txBody>
      </p:sp>
      <p:sp>
        <p:nvSpPr>
          <p:cNvPr id="4" name="TextBox 3"/>
          <p:cNvSpPr txBox="1"/>
          <p:nvPr/>
        </p:nvSpPr>
        <p:spPr>
          <a:xfrm>
            <a:off x="594360" y="566928"/>
            <a:ext cx="10515600" cy="566928"/>
          </a:xfrm>
          <a:prstGeom prst="rect">
            <a:avLst/>
          </a:prstGeom>
          <a:noFill/>
        </p:spPr>
        <p:txBody>
          <a:bodyPr wrap="square" lIns="18288" rIns="18288" tIns="9144" bIns="9144">
            <a:normAutofit/>
          </a:bodyPr>
          <a:lstStyle/>
          <a:p>
            <a:r>
              <a:rPr sz="2400" b="1">
                <a:solidFill>
                  <a:srgbClr val="2B2319"/>
                </a:solidFill>
                <a:latin typeface="Aptos"/>
              </a:rPr>
              <a:t>Proposed Approach</a:t>
            </a:r>
          </a:p>
        </p:txBody>
      </p:sp>
      <p:sp>
        <p:nvSpPr>
          <p:cNvPr id="5" name="Rectangle 4"/>
          <p:cNvSpPr/>
          <p:nvPr/>
        </p:nvSpPr>
        <p:spPr>
          <a:xfrm>
            <a:off x="594360" y="1207008"/>
            <a:ext cx="10972800" cy="9144"/>
          </a:xfrm>
          <a:prstGeom prst="rect">
            <a:avLst/>
          </a:prstGeom>
          <a:solidFill>
            <a:srgbClr val="DECB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2011680"/>
            <a:ext cx="530352" cy="530352"/>
          </a:xfrm>
          <a:prstGeom prst="ellipse">
            <a:avLst/>
          </a:prstGeom>
          <a:solidFill>
            <a:srgbClr val="B589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14984" y="2093976"/>
            <a:ext cx="228600" cy="219456"/>
          </a:xfrm>
          <a:prstGeom prst="rect">
            <a:avLst/>
          </a:prstGeom>
          <a:noFill/>
        </p:spPr>
        <p:txBody>
          <a:bodyPr wrap="square" lIns="18288" rIns="18288" tIns="9144" bIns="9144">
            <a:normAutofit/>
          </a:bodyPr>
          <a:lstStyle/>
          <a:p>
            <a:pPr algn="ctr"/>
            <a:r>
              <a:rPr sz="1200" b="1">
                <a:solidFill>
                  <a:srgbClr val="FFFFFF"/>
                </a:solidFill>
                <a:latin typeface="Aptos"/>
              </a:rPr>
              <a:t>1</a:t>
            </a:r>
          </a:p>
        </p:txBody>
      </p:sp>
      <p:sp>
        <p:nvSpPr>
          <p:cNvPr id="8" name="Rectangle 7"/>
          <p:cNvSpPr/>
          <p:nvPr/>
        </p:nvSpPr>
        <p:spPr>
          <a:xfrm>
            <a:off x="1490472" y="2267712"/>
            <a:ext cx="2011680" cy="22860"/>
          </a:xfrm>
          <a:prstGeom prst="rect">
            <a:avLst/>
          </a:prstGeom>
          <a:solidFill>
            <a:srgbClr val="DECB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04088" y="2798064"/>
            <a:ext cx="1874519" cy="1463040"/>
          </a:xfrm>
          <a:prstGeom prst="rect">
            <a:avLst/>
          </a:prstGeom>
          <a:noFill/>
        </p:spPr>
        <p:txBody>
          <a:bodyPr wrap="square" lIns="18288" rIns="18288" tIns="9144" bIns="9144">
            <a:normAutofit/>
          </a:bodyPr>
          <a:lstStyle/>
          <a:p>
            <a:pPr algn="ctr"/>
            <a:r>
              <a:rPr sz="1100" b="1">
                <a:solidFill>
                  <a:srgbClr val="2B2319"/>
                </a:solidFill>
                <a:latin typeface="Aptos"/>
              </a:rPr>
              <a:t>Integrate personal and non-personal promotional data to establish comprehensive...</a:t>
            </a:r>
          </a:p>
        </p:txBody>
      </p:sp>
      <p:sp>
        <p:nvSpPr>
          <p:cNvPr id="10" name="Oval 9"/>
          <p:cNvSpPr/>
          <p:nvPr/>
        </p:nvSpPr>
        <p:spPr>
          <a:xfrm>
            <a:off x="3017520" y="2011680"/>
            <a:ext cx="530352" cy="530352"/>
          </a:xfrm>
          <a:prstGeom prst="ellipse">
            <a:avLst/>
          </a:prstGeom>
          <a:solidFill>
            <a:srgbClr val="B589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163824" y="2093976"/>
            <a:ext cx="228600" cy="219456"/>
          </a:xfrm>
          <a:prstGeom prst="rect">
            <a:avLst/>
          </a:prstGeom>
          <a:noFill/>
        </p:spPr>
        <p:txBody>
          <a:bodyPr wrap="square" lIns="18288" rIns="18288" tIns="9144" bIns="9144">
            <a:normAutofit/>
          </a:bodyPr>
          <a:lstStyle/>
          <a:p>
            <a:pPr algn="ctr"/>
            <a:r>
              <a:rPr sz="1200" b="1">
                <a:solidFill>
                  <a:srgbClr val="FFFFFF"/>
                </a:solidFill>
                <a:latin typeface="Aptos"/>
              </a:rPr>
              <a:t>2</a:t>
            </a:r>
          </a:p>
        </p:txBody>
      </p:sp>
      <p:sp>
        <p:nvSpPr>
          <p:cNvPr id="12" name="Rectangle 11"/>
          <p:cNvSpPr/>
          <p:nvPr/>
        </p:nvSpPr>
        <p:spPr>
          <a:xfrm>
            <a:off x="3639312" y="2267712"/>
            <a:ext cx="2011680" cy="22860"/>
          </a:xfrm>
          <a:prstGeom prst="rect">
            <a:avLst/>
          </a:prstGeom>
          <a:solidFill>
            <a:srgbClr val="DECB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852928" y="2798064"/>
            <a:ext cx="1874519" cy="1463040"/>
          </a:xfrm>
          <a:prstGeom prst="rect">
            <a:avLst/>
          </a:prstGeom>
          <a:noFill/>
        </p:spPr>
        <p:txBody>
          <a:bodyPr wrap="square" lIns="18288" rIns="18288" tIns="9144" bIns="9144">
            <a:normAutofit/>
          </a:bodyPr>
          <a:lstStyle/>
          <a:p>
            <a:pPr algn="ctr"/>
            <a:r>
              <a:rPr sz="1100" b="1">
                <a:solidFill>
                  <a:srgbClr val="2B2319"/>
                </a:solidFill>
                <a:latin typeface="Aptos"/>
              </a:rPr>
              <a:t>Apply statistical modeling to quantify incremental sales impact by channel</a:t>
            </a:r>
          </a:p>
        </p:txBody>
      </p:sp>
      <p:sp>
        <p:nvSpPr>
          <p:cNvPr id="14" name="Oval 13"/>
          <p:cNvSpPr/>
          <p:nvPr/>
        </p:nvSpPr>
        <p:spPr>
          <a:xfrm>
            <a:off x="5166360" y="2011680"/>
            <a:ext cx="530352" cy="530352"/>
          </a:xfrm>
          <a:prstGeom prst="ellipse">
            <a:avLst/>
          </a:prstGeom>
          <a:solidFill>
            <a:srgbClr val="B589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312664" y="2093976"/>
            <a:ext cx="228600" cy="219456"/>
          </a:xfrm>
          <a:prstGeom prst="rect">
            <a:avLst/>
          </a:prstGeom>
          <a:noFill/>
        </p:spPr>
        <p:txBody>
          <a:bodyPr wrap="square" lIns="18288" rIns="18288" tIns="9144" bIns="9144">
            <a:normAutofit/>
          </a:bodyPr>
          <a:lstStyle/>
          <a:p>
            <a:pPr algn="ctr"/>
            <a:r>
              <a:rPr sz="1200" b="1">
                <a:solidFill>
                  <a:srgbClr val="FFFFFF"/>
                </a:solidFill>
                <a:latin typeface="Aptos"/>
              </a:rPr>
              <a:t>3</a:t>
            </a:r>
          </a:p>
        </p:txBody>
      </p:sp>
      <p:sp>
        <p:nvSpPr>
          <p:cNvPr id="16" name="Rectangle 15"/>
          <p:cNvSpPr/>
          <p:nvPr/>
        </p:nvSpPr>
        <p:spPr>
          <a:xfrm>
            <a:off x="5788152" y="2267712"/>
            <a:ext cx="2011680" cy="22860"/>
          </a:xfrm>
          <a:prstGeom prst="rect">
            <a:avLst/>
          </a:prstGeom>
          <a:solidFill>
            <a:srgbClr val="DECB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01768" y="2798064"/>
            <a:ext cx="1874519" cy="1463040"/>
          </a:xfrm>
          <a:prstGeom prst="rect">
            <a:avLst/>
          </a:prstGeom>
          <a:noFill/>
        </p:spPr>
        <p:txBody>
          <a:bodyPr wrap="square" lIns="18288" rIns="18288" tIns="9144" bIns="9144">
            <a:normAutofit/>
          </a:bodyPr>
          <a:lstStyle/>
          <a:p>
            <a:pPr algn="ctr"/>
            <a:r>
              <a:rPr sz="1100" b="1">
                <a:solidFill>
                  <a:srgbClr val="2B2319"/>
                </a:solidFill>
                <a:latin typeface="Aptos"/>
              </a:rPr>
              <a:t>Generate response curves and calculate 1-year and 3-year ROI metrics</a:t>
            </a:r>
          </a:p>
        </p:txBody>
      </p:sp>
      <p:sp>
        <p:nvSpPr>
          <p:cNvPr id="18" name="Oval 17"/>
          <p:cNvSpPr/>
          <p:nvPr/>
        </p:nvSpPr>
        <p:spPr>
          <a:xfrm>
            <a:off x="7315200" y="2011680"/>
            <a:ext cx="530352" cy="530352"/>
          </a:xfrm>
          <a:prstGeom prst="ellipse">
            <a:avLst/>
          </a:prstGeom>
          <a:solidFill>
            <a:srgbClr val="B589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61504" y="2093976"/>
            <a:ext cx="228600" cy="219456"/>
          </a:xfrm>
          <a:prstGeom prst="rect">
            <a:avLst/>
          </a:prstGeom>
          <a:noFill/>
        </p:spPr>
        <p:txBody>
          <a:bodyPr wrap="square" lIns="18288" rIns="18288" tIns="9144" bIns="9144">
            <a:normAutofit/>
          </a:bodyPr>
          <a:lstStyle/>
          <a:p>
            <a:pPr algn="ctr"/>
            <a:r>
              <a:rPr sz="1200" b="1">
                <a:solidFill>
                  <a:srgbClr val="FFFFFF"/>
                </a:solidFill>
                <a:latin typeface="Aptos"/>
              </a:rPr>
              <a:t>4</a:t>
            </a:r>
          </a:p>
        </p:txBody>
      </p:sp>
      <p:sp>
        <p:nvSpPr>
          <p:cNvPr id="20" name="Rectangle 19"/>
          <p:cNvSpPr/>
          <p:nvPr/>
        </p:nvSpPr>
        <p:spPr>
          <a:xfrm>
            <a:off x="7936992" y="2267712"/>
            <a:ext cx="2011680" cy="22860"/>
          </a:xfrm>
          <a:prstGeom prst="rect">
            <a:avLst/>
          </a:prstGeom>
          <a:solidFill>
            <a:srgbClr val="DECB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150608" y="2798064"/>
            <a:ext cx="1874519" cy="1463040"/>
          </a:xfrm>
          <a:prstGeom prst="rect">
            <a:avLst/>
          </a:prstGeom>
          <a:noFill/>
        </p:spPr>
        <p:txBody>
          <a:bodyPr wrap="square" lIns="18288" rIns="18288" tIns="9144" bIns="9144">
            <a:normAutofit/>
          </a:bodyPr>
          <a:lstStyle/>
          <a:p>
            <a:pPr algn="ctr"/>
            <a:r>
              <a:rPr sz="1100" b="1">
                <a:solidFill>
                  <a:srgbClr val="2B2319"/>
                </a:solidFill>
                <a:latin typeface="Aptos"/>
              </a:rPr>
              <a:t>Decompose sales into brand equity versus promotions-driven revenue components</a:t>
            </a:r>
          </a:p>
        </p:txBody>
      </p:sp>
      <p:sp>
        <p:nvSpPr>
          <p:cNvPr id="22" name="Oval 21"/>
          <p:cNvSpPr/>
          <p:nvPr/>
        </p:nvSpPr>
        <p:spPr>
          <a:xfrm>
            <a:off x="9464040" y="2011680"/>
            <a:ext cx="530352" cy="530352"/>
          </a:xfrm>
          <a:prstGeom prst="ellipse">
            <a:avLst/>
          </a:prstGeom>
          <a:solidFill>
            <a:srgbClr val="B589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610344" y="2093976"/>
            <a:ext cx="228600" cy="219456"/>
          </a:xfrm>
          <a:prstGeom prst="rect">
            <a:avLst/>
          </a:prstGeom>
          <a:noFill/>
        </p:spPr>
        <p:txBody>
          <a:bodyPr wrap="square" lIns="18288" rIns="18288" tIns="9144" bIns="9144">
            <a:normAutofit/>
          </a:bodyPr>
          <a:lstStyle/>
          <a:p>
            <a:pPr algn="ctr"/>
            <a:r>
              <a:rPr sz="1200" b="1">
                <a:solidFill>
                  <a:srgbClr val="FFFFFF"/>
                </a:solidFill>
                <a:latin typeface="Aptos"/>
              </a:rPr>
              <a:t>5</a:t>
            </a:r>
          </a:p>
        </p:txBody>
      </p:sp>
      <p:sp>
        <p:nvSpPr>
          <p:cNvPr id="24" name="TextBox 23"/>
          <p:cNvSpPr txBox="1"/>
          <p:nvPr/>
        </p:nvSpPr>
        <p:spPr>
          <a:xfrm>
            <a:off x="9299448" y="2798064"/>
            <a:ext cx="1874519" cy="1463040"/>
          </a:xfrm>
          <a:prstGeom prst="rect">
            <a:avLst/>
          </a:prstGeom>
          <a:noFill/>
        </p:spPr>
        <p:txBody>
          <a:bodyPr wrap="square" lIns="18288" rIns="18288" tIns="9144" bIns="9144">
            <a:normAutofit/>
          </a:bodyPr>
          <a:lstStyle/>
          <a:p>
            <a:pPr algn="ctr"/>
            <a:r>
              <a:rPr sz="1100" b="1">
                <a:solidFill>
                  <a:srgbClr val="2B2319"/>
                </a:solidFill>
                <a:latin typeface="Aptos"/>
              </a:rPr>
              <a:t>Deliver optimal budget allocation recommendations with marginal ROI analysis</a:t>
            </a:r>
          </a:p>
        </p:txBody>
      </p:sp>
      <p:sp>
        <p:nvSpPr>
          <p:cNvPr id="25" name="TextBox 24"/>
          <p:cNvSpPr txBox="1"/>
          <p:nvPr/>
        </p:nvSpPr>
        <p:spPr>
          <a:xfrm>
            <a:off x="594360" y="6473952"/>
            <a:ext cx="6400800" cy="182880"/>
          </a:xfrm>
          <a:prstGeom prst="rect">
            <a:avLst/>
          </a:prstGeom>
          <a:noFill/>
        </p:spPr>
        <p:txBody>
          <a:bodyPr wrap="square" lIns="18288" rIns="18288" tIns="9144" bIns="9144">
            <a:normAutofit/>
          </a:bodyPr>
          <a:lstStyle/>
          <a:p>
            <a:r>
              <a:rPr sz="700" b="0">
                <a:solidFill>
                  <a:srgbClr val="705F44"/>
                </a:solidFill>
                <a:latin typeface="Aptos"/>
              </a:rPr>
              <a:t>BLITZ Enterprise Intelligence | Generated from cited RAG synthesis</a:t>
            </a:r>
          </a:p>
        </p:txBody>
      </p:sp>
      <p:sp>
        <p:nvSpPr>
          <p:cNvPr id="26" name="TextBox 25"/>
          <p:cNvSpPr txBox="1"/>
          <p:nvPr/>
        </p:nvSpPr>
        <p:spPr>
          <a:xfrm>
            <a:off x="11201400" y="6446520"/>
            <a:ext cx="411480" cy="201168"/>
          </a:xfrm>
          <a:prstGeom prst="rect">
            <a:avLst/>
          </a:prstGeom>
          <a:noFill/>
        </p:spPr>
        <p:txBody>
          <a:bodyPr wrap="square" lIns="18288" rIns="18288" tIns="9144" bIns="9144">
            <a:normAutofit/>
          </a:bodyPr>
          <a:lstStyle/>
          <a:p>
            <a:pPr algn="r"/>
            <a:r>
              <a:rPr sz="800" b="1">
                <a:solidFill>
                  <a:srgbClr val="B58930"/>
                </a:solidFill>
                <a:latin typeface="Aptos"/>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5943600" cy="228600"/>
          </a:xfrm>
          <a:prstGeom prst="rect">
            <a:avLst/>
          </a:prstGeom>
          <a:noFill/>
        </p:spPr>
        <p:txBody>
          <a:bodyPr wrap="square" lIns="18288" rIns="18288" tIns="9144" bIns="9144">
            <a:normAutofit/>
          </a:bodyPr>
          <a:lstStyle/>
          <a:p>
            <a:r>
              <a:rPr sz="800" b="1">
                <a:solidFill>
                  <a:srgbClr val="B58930"/>
                </a:solidFill>
                <a:latin typeface="Aptos"/>
              </a:rPr>
              <a:t>ENGAGEMENT | CAPABILITY DECKS</a:t>
            </a:r>
          </a:p>
        </p:txBody>
      </p:sp>
      <p:sp>
        <p:nvSpPr>
          <p:cNvPr id="4" name="TextBox 3"/>
          <p:cNvSpPr txBox="1"/>
          <p:nvPr/>
        </p:nvSpPr>
        <p:spPr>
          <a:xfrm>
            <a:off x="594360" y="566928"/>
            <a:ext cx="10515600" cy="566928"/>
          </a:xfrm>
          <a:prstGeom prst="rect">
            <a:avLst/>
          </a:prstGeom>
          <a:noFill/>
        </p:spPr>
        <p:txBody>
          <a:bodyPr wrap="square" lIns="18288" rIns="18288" tIns="9144" bIns="9144">
            <a:normAutofit/>
          </a:bodyPr>
          <a:lstStyle/>
          <a:p>
            <a:r>
              <a:rPr sz="2400" b="1">
                <a:solidFill>
                  <a:srgbClr val="2B2319"/>
                </a:solidFill>
                <a:latin typeface="Aptos"/>
              </a:rPr>
              <a:t>Marketing Mix Modeling for Promotional Optimization</a:t>
            </a:r>
          </a:p>
        </p:txBody>
      </p:sp>
      <p:sp>
        <p:nvSpPr>
          <p:cNvPr id="5" name="Rectangle 4"/>
          <p:cNvSpPr/>
          <p:nvPr/>
        </p:nvSpPr>
        <p:spPr>
          <a:xfrm>
            <a:off x="594360" y="1207008"/>
            <a:ext cx="10972800" cy="9144"/>
          </a:xfrm>
          <a:prstGeom prst="rect">
            <a:avLst/>
          </a:prstGeom>
          <a:solidFill>
            <a:srgbClr val="DECB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94360" y="1325880"/>
            <a:ext cx="10972800" cy="502920"/>
          </a:xfrm>
          <a:prstGeom prst="roundRect">
            <a:avLst/>
          </a:prstGeom>
          <a:solidFill>
            <a:srgbClr val="F4E6BB"/>
          </a:solidFill>
          <a:ln>
            <a:solidFill>
              <a:srgbClr val="DECB9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417320"/>
            <a:ext cx="7315200" cy="320040"/>
          </a:xfrm>
          <a:prstGeom prst="rect">
            <a:avLst/>
          </a:prstGeom>
          <a:noFill/>
        </p:spPr>
        <p:txBody>
          <a:bodyPr wrap="square" lIns="18288" rIns="18288" tIns="9144" bIns="9144">
            <a:normAutofit/>
          </a:bodyPr>
          <a:lstStyle/>
          <a:p>
            <a:r>
              <a:rPr sz="1100" b="1">
                <a:solidFill>
                  <a:srgbClr val="2B2319"/>
                </a:solidFill>
                <a:latin typeface="Aptos"/>
              </a:rPr>
              <a:t>POC: Unknown</a:t>
            </a:r>
          </a:p>
        </p:txBody>
      </p:sp>
      <p:sp>
        <p:nvSpPr>
          <p:cNvPr id="8" name="TextBox 7"/>
          <p:cNvSpPr txBox="1"/>
          <p:nvPr/>
        </p:nvSpPr>
        <p:spPr>
          <a:xfrm>
            <a:off x="10332720" y="1417320"/>
            <a:ext cx="1143000" cy="320040"/>
          </a:xfrm>
          <a:prstGeom prst="rect">
            <a:avLst/>
          </a:prstGeom>
          <a:noFill/>
        </p:spPr>
        <p:txBody>
          <a:bodyPr wrap="square" lIns="18288" rIns="18288" tIns="9144" bIns="9144">
            <a:normAutofit/>
          </a:bodyPr>
          <a:lstStyle/>
          <a:p>
            <a:pPr algn="r"/>
            <a:r>
              <a:rPr sz="1000" b="1">
                <a:solidFill>
                  <a:srgbClr val="B58930"/>
                </a:solidFill>
                <a:latin typeface="Aptos"/>
              </a:rPr>
              <a:t>Doc 1</a:t>
            </a:r>
          </a:p>
        </p:txBody>
      </p:sp>
      <p:sp>
        <p:nvSpPr>
          <p:cNvPr id="9" name="Rounded Rectangle 8"/>
          <p:cNvSpPr/>
          <p:nvPr/>
        </p:nvSpPr>
        <p:spPr>
          <a:xfrm>
            <a:off x="594360" y="2057400"/>
            <a:ext cx="5486400" cy="2011680"/>
          </a:xfrm>
          <a:prstGeom prst="roundRect">
            <a:avLst/>
          </a:prstGeom>
          <a:solidFill>
            <a:srgbClr val="FFFFFF"/>
          </a:solidFill>
          <a:ln>
            <a:solidFill>
              <a:srgbClr val="DECB9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194560"/>
            <a:ext cx="5029200" cy="274320"/>
          </a:xfrm>
          <a:prstGeom prst="rect">
            <a:avLst/>
          </a:prstGeom>
          <a:noFill/>
        </p:spPr>
        <p:txBody>
          <a:bodyPr wrap="square" lIns="18288" rIns="18288" tIns="9144" bIns="9144">
            <a:normAutofit/>
          </a:bodyPr>
          <a:lstStyle/>
          <a:p>
            <a:r>
              <a:rPr sz="900" b="1">
                <a:solidFill>
                  <a:srgbClr val="B58930"/>
                </a:solidFill>
                <a:latin typeface="Aptos"/>
              </a:rPr>
              <a:t>BUSINESS OBJECTIVE</a:t>
            </a:r>
          </a:p>
        </p:txBody>
      </p:sp>
      <p:sp>
        <p:nvSpPr>
          <p:cNvPr id="11" name="TextBox 10"/>
          <p:cNvSpPr txBox="1"/>
          <p:nvPr/>
        </p:nvSpPr>
        <p:spPr>
          <a:xfrm>
            <a:off x="822960" y="2514600"/>
            <a:ext cx="5029200" cy="1463040"/>
          </a:xfrm>
          <a:prstGeom prst="rect">
            <a:avLst/>
          </a:prstGeom>
          <a:noFill/>
        </p:spPr>
        <p:txBody>
          <a:bodyPr wrap="square" lIns="18288" rIns="18288" tIns="9144" bIns="9144">
            <a:normAutofit/>
          </a:bodyPr>
          <a:lstStyle/>
          <a:p>
            <a:r>
              <a:rPr sz="1100" b="0">
                <a:solidFill>
                  <a:srgbClr val="705F44"/>
                </a:solidFill>
                <a:latin typeface="Aptos"/>
              </a:rPr>
              <a:t>Determine how promotional activities translate into incremental sales and optimize marketing budgets accordingly</a:t>
            </a:r>
          </a:p>
        </p:txBody>
      </p:sp>
      <p:sp>
        <p:nvSpPr>
          <p:cNvPr id="12" name="Rounded Rectangle 11"/>
          <p:cNvSpPr/>
          <p:nvPr/>
        </p:nvSpPr>
        <p:spPr>
          <a:xfrm>
            <a:off x="6355080" y="2057400"/>
            <a:ext cx="5486400" cy="2011680"/>
          </a:xfrm>
          <a:prstGeom prst="roundRect">
            <a:avLst/>
          </a:prstGeom>
          <a:solidFill>
            <a:srgbClr val="FFFFFF"/>
          </a:solidFill>
          <a:ln>
            <a:solidFill>
              <a:srgbClr val="DECB9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83680" y="2194560"/>
            <a:ext cx="5029200" cy="274320"/>
          </a:xfrm>
          <a:prstGeom prst="rect">
            <a:avLst/>
          </a:prstGeom>
          <a:noFill/>
        </p:spPr>
        <p:txBody>
          <a:bodyPr wrap="square" lIns="18288" rIns="18288" tIns="9144" bIns="9144">
            <a:normAutofit/>
          </a:bodyPr>
          <a:lstStyle/>
          <a:p>
            <a:r>
              <a:rPr sz="900" b="1">
                <a:solidFill>
                  <a:srgbClr val="B58930"/>
                </a:solidFill>
                <a:latin typeface="Aptos"/>
              </a:rPr>
              <a:t>APPROACH</a:t>
            </a:r>
          </a:p>
        </p:txBody>
      </p:sp>
      <p:sp>
        <p:nvSpPr>
          <p:cNvPr id="14" name="TextBox 13"/>
          <p:cNvSpPr txBox="1"/>
          <p:nvPr/>
        </p:nvSpPr>
        <p:spPr>
          <a:xfrm>
            <a:off x="6583680" y="2514600"/>
            <a:ext cx="5029200" cy="1463040"/>
          </a:xfrm>
          <a:prstGeom prst="rect">
            <a:avLst/>
          </a:prstGeom>
          <a:noFill/>
        </p:spPr>
        <p:txBody>
          <a:bodyPr wrap="square" lIns="18288" rIns="18288" tIns="9144" bIns="9144">
            <a:normAutofit/>
          </a:bodyPr>
          <a:lstStyle/>
          <a:p>
            <a:r>
              <a:rPr sz="1100" b="0">
                <a:solidFill>
                  <a:srgbClr val="705F44"/>
                </a:solidFill>
                <a:latin typeface="Aptos"/>
              </a:rPr>
              <a:t>Applied statistical techniques including logarithmic transformations, power functions, binary models, and ad-stock modeling</a:t>
            </a:r>
          </a:p>
        </p:txBody>
      </p:sp>
      <p:sp>
        <p:nvSpPr>
          <p:cNvPr id="15" name="Rounded Rectangle 14"/>
          <p:cNvSpPr/>
          <p:nvPr/>
        </p:nvSpPr>
        <p:spPr>
          <a:xfrm>
            <a:off x="594360" y="4206240"/>
            <a:ext cx="5486400" cy="2011680"/>
          </a:xfrm>
          <a:prstGeom prst="roundRect">
            <a:avLst/>
          </a:prstGeom>
          <a:solidFill>
            <a:srgbClr val="FFFFFF"/>
          </a:solidFill>
          <a:ln>
            <a:solidFill>
              <a:srgbClr val="DECB9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 y="4343400"/>
            <a:ext cx="5029200" cy="274320"/>
          </a:xfrm>
          <a:prstGeom prst="rect">
            <a:avLst/>
          </a:prstGeom>
          <a:noFill/>
        </p:spPr>
        <p:txBody>
          <a:bodyPr wrap="square" lIns="18288" rIns="18288" tIns="9144" bIns="9144">
            <a:normAutofit/>
          </a:bodyPr>
          <a:lstStyle/>
          <a:p>
            <a:r>
              <a:rPr sz="900" b="1">
                <a:solidFill>
                  <a:srgbClr val="B58930"/>
                </a:solidFill>
                <a:latin typeface="Aptos"/>
              </a:rPr>
              <a:t>DATASETS &amp; TOOLS</a:t>
            </a:r>
          </a:p>
        </p:txBody>
      </p:sp>
      <p:sp>
        <p:nvSpPr>
          <p:cNvPr id="17" name="TextBox 16"/>
          <p:cNvSpPr txBox="1"/>
          <p:nvPr/>
        </p:nvSpPr>
        <p:spPr>
          <a:xfrm>
            <a:off x="822960" y="4663440"/>
            <a:ext cx="5029200" cy="1463040"/>
          </a:xfrm>
          <a:prstGeom prst="rect">
            <a:avLst/>
          </a:prstGeom>
          <a:noFill/>
        </p:spPr>
        <p:txBody>
          <a:bodyPr wrap="square" lIns="18288" rIns="18288" tIns="9144" bIns="9144">
            <a:normAutofit/>
          </a:bodyPr>
          <a:lstStyle/>
          <a:p>
            <a:r>
              <a:rPr sz="1100" b="0">
                <a:solidFill>
                  <a:srgbClr val="705F44"/>
                </a:solidFill>
                <a:latin typeface="Aptos"/>
              </a:rPr>
              <a:t>Personal data (Rx, calls, samples, events) and non-personal data (media, promotional spend, vendor fees)</a:t>
            </a:r>
          </a:p>
        </p:txBody>
      </p:sp>
      <p:sp>
        <p:nvSpPr>
          <p:cNvPr id="18" name="Rounded Rectangle 17"/>
          <p:cNvSpPr/>
          <p:nvPr/>
        </p:nvSpPr>
        <p:spPr>
          <a:xfrm>
            <a:off x="6355080" y="4206240"/>
            <a:ext cx="5486400" cy="2011680"/>
          </a:xfrm>
          <a:prstGeom prst="roundRect">
            <a:avLst/>
          </a:prstGeom>
          <a:solidFill>
            <a:srgbClr val="FFFFFF"/>
          </a:solidFill>
          <a:ln>
            <a:solidFill>
              <a:srgbClr val="DECB9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83680" y="4343400"/>
            <a:ext cx="5029200" cy="274320"/>
          </a:xfrm>
          <a:prstGeom prst="rect">
            <a:avLst/>
          </a:prstGeom>
          <a:noFill/>
        </p:spPr>
        <p:txBody>
          <a:bodyPr wrap="square" lIns="18288" rIns="18288" tIns="9144" bIns="9144">
            <a:normAutofit/>
          </a:bodyPr>
          <a:lstStyle/>
          <a:p>
            <a:r>
              <a:rPr sz="900" b="1">
                <a:solidFill>
                  <a:srgbClr val="B58930"/>
                </a:solidFill>
                <a:latin typeface="Aptos"/>
              </a:rPr>
              <a:t>OUTCOME</a:t>
            </a:r>
          </a:p>
        </p:txBody>
      </p:sp>
      <p:sp>
        <p:nvSpPr>
          <p:cNvPr id="20" name="TextBox 19"/>
          <p:cNvSpPr txBox="1"/>
          <p:nvPr/>
        </p:nvSpPr>
        <p:spPr>
          <a:xfrm>
            <a:off x="6583680" y="4663440"/>
            <a:ext cx="5029200" cy="1463040"/>
          </a:xfrm>
          <a:prstGeom prst="rect">
            <a:avLst/>
          </a:prstGeom>
          <a:noFill/>
        </p:spPr>
        <p:txBody>
          <a:bodyPr wrap="square" lIns="18288" rIns="18288" tIns="9144" bIns="9144">
            <a:normAutofit/>
          </a:bodyPr>
          <a:lstStyle/>
          <a:p>
            <a:r>
              <a:rPr sz="1100" b="0">
                <a:solidFill>
                  <a:srgbClr val="705F44"/>
                </a:solidFill>
                <a:latin typeface="Aptos"/>
              </a:rPr>
              <a:t>Sales decomposition, 1-year and 3-year ROI calculations, response curves, and optimal budget allocation recommendations</a:t>
            </a:r>
          </a:p>
        </p:txBody>
      </p:sp>
      <p:sp>
        <p:nvSpPr>
          <p:cNvPr id="21" name="TextBox 20"/>
          <p:cNvSpPr txBox="1"/>
          <p:nvPr/>
        </p:nvSpPr>
        <p:spPr>
          <a:xfrm>
            <a:off x="594360" y="6473952"/>
            <a:ext cx="6400800" cy="182880"/>
          </a:xfrm>
          <a:prstGeom prst="rect">
            <a:avLst/>
          </a:prstGeom>
          <a:noFill/>
        </p:spPr>
        <p:txBody>
          <a:bodyPr wrap="square" lIns="18288" rIns="18288" tIns="9144" bIns="9144">
            <a:normAutofit/>
          </a:bodyPr>
          <a:lstStyle/>
          <a:p>
            <a:r>
              <a:rPr sz="700" b="0">
                <a:solidFill>
                  <a:srgbClr val="705F44"/>
                </a:solidFill>
                <a:latin typeface="Aptos"/>
              </a:rPr>
              <a:t>BLITZ Enterprise Intelligence | Generated from cited RAG synthesis</a:t>
            </a:r>
          </a:p>
        </p:txBody>
      </p:sp>
      <p:sp>
        <p:nvSpPr>
          <p:cNvPr id="22" name="TextBox 21"/>
          <p:cNvSpPr txBox="1"/>
          <p:nvPr/>
        </p:nvSpPr>
        <p:spPr>
          <a:xfrm>
            <a:off x="11201400" y="6446520"/>
            <a:ext cx="411480" cy="201168"/>
          </a:xfrm>
          <a:prstGeom prst="rect">
            <a:avLst/>
          </a:prstGeom>
          <a:noFill/>
        </p:spPr>
        <p:txBody>
          <a:bodyPr wrap="square" lIns="18288" rIns="18288" tIns="9144" bIns="9144">
            <a:normAutofit/>
          </a:bodyPr>
          <a:lstStyle/>
          <a:p>
            <a:pPr algn="r"/>
            <a:r>
              <a:rPr sz="800" b="1">
                <a:solidFill>
                  <a:srgbClr val="B58930"/>
                </a:solidFill>
                <a:latin typeface="Aptos"/>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5943600" cy="228600"/>
          </a:xfrm>
          <a:prstGeom prst="rect">
            <a:avLst/>
          </a:prstGeom>
          <a:noFill/>
        </p:spPr>
        <p:txBody>
          <a:bodyPr wrap="square" lIns="18288" rIns="18288" tIns="9144" bIns="9144">
            <a:normAutofit/>
          </a:bodyPr>
          <a:lstStyle/>
          <a:p>
            <a:r>
              <a:rPr sz="800" b="1">
                <a:solidFill>
                  <a:srgbClr val="B58930"/>
                </a:solidFill>
                <a:latin typeface="Aptos"/>
              </a:rPr>
              <a:t>ENGAGEMENT | CAPABILITY DECKS</a:t>
            </a:r>
          </a:p>
        </p:txBody>
      </p:sp>
      <p:sp>
        <p:nvSpPr>
          <p:cNvPr id="4" name="TextBox 3"/>
          <p:cNvSpPr txBox="1"/>
          <p:nvPr/>
        </p:nvSpPr>
        <p:spPr>
          <a:xfrm>
            <a:off x="594360" y="566928"/>
            <a:ext cx="10515600" cy="566928"/>
          </a:xfrm>
          <a:prstGeom prst="rect">
            <a:avLst/>
          </a:prstGeom>
          <a:noFill/>
        </p:spPr>
        <p:txBody>
          <a:bodyPr wrap="square" lIns="18288" rIns="18288" tIns="9144" bIns="9144">
            <a:normAutofit/>
          </a:bodyPr>
          <a:lstStyle/>
          <a:p>
            <a:r>
              <a:rPr sz="2400" b="1">
                <a:solidFill>
                  <a:srgbClr val="2B2319"/>
                </a:solidFill>
                <a:latin typeface="Aptos"/>
              </a:rPr>
              <a:t>Promotional Engagement Analytics for Pharmaceutical Marketing</a:t>
            </a:r>
          </a:p>
        </p:txBody>
      </p:sp>
      <p:sp>
        <p:nvSpPr>
          <p:cNvPr id="5" name="Rectangle 4"/>
          <p:cNvSpPr/>
          <p:nvPr/>
        </p:nvSpPr>
        <p:spPr>
          <a:xfrm>
            <a:off x="594360" y="1207008"/>
            <a:ext cx="10972800" cy="9144"/>
          </a:xfrm>
          <a:prstGeom prst="rect">
            <a:avLst/>
          </a:prstGeom>
          <a:solidFill>
            <a:srgbClr val="DECB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94360" y="1325880"/>
            <a:ext cx="10972800" cy="502920"/>
          </a:xfrm>
          <a:prstGeom prst="roundRect">
            <a:avLst/>
          </a:prstGeom>
          <a:solidFill>
            <a:srgbClr val="F4E6BB"/>
          </a:solidFill>
          <a:ln>
            <a:solidFill>
              <a:srgbClr val="DECB9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417320"/>
            <a:ext cx="7315200" cy="320040"/>
          </a:xfrm>
          <a:prstGeom prst="rect">
            <a:avLst/>
          </a:prstGeom>
          <a:noFill/>
        </p:spPr>
        <p:txBody>
          <a:bodyPr wrap="square" lIns="18288" rIns="18288" tIns="9144" bIns="9144">
            <a:normAutofit/>
          </a:bodyPr>
          <a:lstStyle/>
          <a:p>
            <a:r>
              <a:rPr sz="1100" b="1">
                <a:solidFill>
                  <a:srgbClr val="2B2319"/>
                </a:solidFill>
                <a:latin typeface="Aptos"/>
              </a:rPr>
              <a:t>POC: Unknown</a:t>
            </a:r>
          </a:p>
        </p:txBody>
      </p:sp>
      <p:sp>
        <p:nvSpPr>
          <p:cNvPr id="8" name="TextBox 7"/>
          <p:cNvSpPr txBox="1"/>
          <p:nvPr/>
        </p:nvSpPr>
        <p:spPr>
          <a:xfrm>
            <a:off x="10332720" y="1417320"/>
            <a:ext cx="1143000" cy="320040"/>
          </a:xfrm>
          <a:prstGeom prst="rect">
            <a:avLst/>
          </a:prstGeom>
          <a:noFill/>
        </p:spPr>
        <p:txBody>
          <a:bodyPr wrap="square" lIns="18288" rIns="18288" tIns="9144" bIns="9144">
            <a:normAutofit/>
          </a:bodyPr>
          <a:lstStyle/>
          <a:p>
            <a:pPr algn="r"/>
            <a:r>
              <a:rPr sz="1000" b="1">
                <a:solidFill>
                  <a:srgbClr val="B58930"/>
                </a:solidFill>
                <a:latin typeface="Aptos"/>
              </a:rPr>
              <a:t>Doc 2</a:t>
            </a:r>
          </a:p>
        </p:txBody>
      </p:sp>
      <p:sp>
        <p:nvSpPr>
          <p:cNvPr id="9" name="Rounded Rectangle 8"/>
          <p:cNvSpPr/>
          <p:nvPr/>
        </p:nvSpPr>
        <p:spPr>
          <a:xfrm>
            <a:off x="594360" y="2057400"/>
            <a:ext cx="5486400" cy="2011680"/>
          </a:xfrm>
          <a:prstGeom prst="roundRect">
            <a:avLst/>
          </a:prstGeom>
          <a:solidFill>
            <a:srgbClr val="FFFFFF"/>
          </a:solidFill>
          <a:ln>
            <a:solidFill>
              <a:srgbClr val="DECB9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194560"/>
            <a:ext cx="5029200" cy="274320"/>
          </a:xfrm>
          <a:prstGeom prst="rect">
            <a:avLst/>
          </a:prstGeom>
          <a:noFill/>
        </p:spPr>
        <p:txBody>
          <a:bodyPr wrap="square" lIns="18288" rIns="18288" tIns="9144" bIns="9144">
            <a:normAutofit/>
          </a:bodyPr>
          <a:lstStyle/>
          <a:p>
            <a:r>
              <a:rPr sz="900" b="1">
                <a:solidFill>
                  <a:srgbClr val="B58930"/>
                </a:solidFill>
                <a:latin typeface="Aptos"/>
              </a:rPr>
              <a:t>BUSINESS OBJECTIVE</a:t>
            </a:r>
          </a:p>
        </p:txBody>
      </p:sp>
      <p:sp>
        <p:nvSpPr>
          <p:cNvPr id="11" name="TextBox 10"/>
          <p:cNvSpPr txBox="1"/>
          <p:nvPr/>
        </p:nvSpPr>
        <p:spPr>
          <a:xfrm>
            <a:off x="822960" y="2514600"/>
            <a:ext cx="5029200" cy="1463040"/>
          </a:xfrm>
          <a:prstGeom prst="rect">
            <a:avLst/>
          </a:prstGeom>
          <a:noFill/>
        </p:spPr>
        <p:txBody>
          <a:bodyPr wrap="square" lIns="18288" rIns="18288" tIns="9144" bIns="9144">
            <a:normAutofit/>
          </a:bodyPr>
          <a:lstStyle/>
          <a:p>
            <a:r>
              <a:rPr sz="1100" b="0">
                <a:solidFill>
                  <a:srgbClr val="705F44"/>
                </a:solidFill>
                <a:latin typeface="Aptos"/>
              </a:rPr>
              <a:t>Enhance promotional program effectiveness and optimize overall marketing performance for pharmaceutical clients</a:t>
            </a:r>
          </a:p>
        </p:txBody>
      </p:sp>
      <p:sp>
        <p:nvSpPr>
          <p:cNvPr id="12" name="Rounded Rectangle 11"/>
          <p:cNvSpPr/>
          <p:nvPr/>
        </p:nvSpPr>
        <p:spPr>
          <a:xfrm>
            <a:off x="6355080" y="2057400"/>
            <a:ext cx="5486400" cy="2011680"/>
          </a:xfrm>
          <a:prstGeom prst="roundRect">
            <a:avLst/>
          </a:prstGeom>
          <a:solidFill>
            <a:srgbClr val="FFFFFF"/>
          </a:solidFill>
          <a:ln>
            <a:solidFill>
              <a:srgbClr val="DECB9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83680" y="2194560"/>
            <a:ext cx="5029200" cy="274320"/>
          </a:xfrm>
          <a:prstGeom prst="rect">
            <a:avLst/>
          </a:prstGeom>
          <a:noFill/>
        </p:spPr>
        <p:txBody>
          <a:bodyPr wrap="square" lIns="18288" rIns="18288" tIns="9144" bIns="9144">
            <a:normAutofit/>
          </a:bodyPr>
          <a:lstStyle/>
          <a:p>
            <a:r>
              <a:rPr sz="900" b="1">
                <a:solidFill>
                  <a:srgbClr val="B58930"/>
                </a:solidFill>
                <a:latin typeface="Aptos"/>
              </a:rPr>
              <a:t>APPROACH</a:t>
            </a:r>
          </a:p>
        </p:txBody>
      </p:sp>
      <p:sp>
        <p:nvSpPr>
          <p:cNvPr id="14" name="TextBox 13"/>
          <p:cNvSpPr txBox="1"/>
          <p:nvPr/>
        </p:nvSpPr>
        <p:spPr>
          <a:xfrm>
            <a:off x="6583680" y="2514600"/>
            <a:ext cx="5029200" cy="1463040"/>
          </a:xfrm>
          <a:prstGeom prst="rect">
            <a:avLst/>
          </a:prstGeom>
          <a:noFill/>
        </p:spPr>
        <p:txBody>
          <a:bodyPr wrap="square" lIns="18288" rIns="18288" tIns="9144" bIns="9144">
            <a:normAutofit/>
          </a:bodyPr>
          <a:lstStyle/>
          <a:p>
            <a:r>
              <a:rPr sz="1100" b="0">
                <a:solidFill>
                  <a:srgbClr val="705F44"/>
                </a:solidFill>
                <a:latin typeface="Aptos"/>
              </a:rPr>
              <a:t>Leveraged specialized proficiency and data analytics to provide actionable insights integrated with ongoing field activities</a:t>
            </a:r>
          </a:p>
        </p:txBody>
      </p:sp>
      <p:sp>
        <p:nvSpPr>
          <p:cNvPr id="15" name="Rounded Rectangle 14"/>
          <p:cNvSpPr/>
          <p:nvPr/>
        </p:nvSpPr>
        <p:spPr>
          <a:xfrm>
            <a:off x="594360" y="4206240"/>
            <a:ext cx="5486400" cy="2011680"/>
          </a:xfrm>
          <a:prstGeom prst="roundRect">
            <a:avLst/>
          </a:prstGeom>
          <a:solidFill>
            <a:srgbClr val="FFFFFF"/>
          </a:solidFill>
          <a:ln>
            <a:solidFill>
              <a:srgbClr val="DECB9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 y="4343400"/>
            <a:ext cx="5029200" cy="274320"/>
          </a:xfrm>
          <a:prstGeom prst="rect">
            <a:avLst/>
          </a:prstGeom>
          <a:noFill/>
        </p:spPr>
        <p:txBody>
          <a:bodyPr wrap="square" lIns="18288" rIns="18288" tIns="9144" bIns="9144">
            <a:normAutofit/>
          </a:bodyPr>
          <a:lstStyle/>
          <a:p>
            <a:r>
              <a:rPr sz="900" b="1">
                <a:solidFill>
                  <a:srgbClr val="B58930"/>
                </a:solidFill>
                <a:latin typeface="Aptos"/>
              </a:rPr>
              <a:t>DATASETS &amp; TOOLS</a:t>
            </a:r>
          </a:p>
        </p:txBody>
      </p:sp>
      <p:sp>
        <p:nvSpPr>
          <p:cNvPr id="17" name="TextBox 16"/>
          <p:cNvSpPr txBox="1"/>
          <p:nvPr/>
        </p:nvSpPr>
        <p:spPr>
          <a:xfrm>
            <a:off x="822960" y="4663440"/>
            <a:ext cx="5029200" cy="1463040"/>
          </a:xfrm>
          <a:prstGeom prst="rect">
            <a:avLst/>
          </a:prstGeom>
          <a:noFill/>
        </p:spPr>
        <p:txBody>
          <a:bodyPr wrap="square" lIns="18288" rIns="18288" tIns="9144" bIns="9144">
            <a:normAutofit/>
          </a:bodyPr>
          <a:lstStyle/>
          <a:p>
            <a:r>
              <a:rPr sz="1100" b="0">
                <a:solidFill>
                  <a:srgbClr val="705F44"/>
                </a:solidFill>
                <a:latin typeface="Aptos"/>
              </a:rPr>
              <a:t>Sales data, promotional data, and other relevant datasets</a:t>
            </a:r>
          </a:p>
        </p:txBody>
      </p:sp>
      <p:sp>
        <p:nvSpPr>
          <p:cNvPr id="18" name="Rounded Rectangle 17"/>
          <p:cNvSpPr/>
          <p:nvPr/>
        </p:nvSpPr>
        <p:spPr>
          <a:xfrm>
            <a:off x="6355080" y="4206240"/>
            <a:ext cx="5486400" cy="2011680"/>
          </a:xfrm>
          <a:prstGeom prst="roundRect">
            <a:avLst/>
          </a:prstGeom>
          <a:solidFill>
            <a:srgbClr val="FFFFFF"/>
          </a:solidFill>
          <a:ln>
            <a:solidFill>
              <a:srgbClr val="DECB9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83680" y="4343400"/>
            <a:ext cx="5029200" cy="274320"/>
          </a:xfrm>
          <a:prstGeom prst="rect">
            <a:avLst/>
          </a:prstGeom>
          <a:noFill/>
        </p:spPr>
        <p:txBody>
          <a:bodyPr wrap="square" lIns="18288" rIns="18288" tIns="9144" bIns="9144">
            <a:normAutofit/>
          </a:bodyPr>
          <a:lstStyle/>
          <a:p>
            <a:r>
              <a:rPr sz="900" b="1">
                <a:solidFill>
                  <a:srgbClr val="B58930"/>
                </a:solidFill>
                <a:latin typeface="Aptos"/>
              </a:rPr>
              <a:t>OUTCOME</a:t>
            </a:r>
          </a:p>
        </p:txBody>
      </p:sp>
      <p:sp>
        <p:nvSpPr>
          <p:cNvPr id="20" name="TextBox 19"/>
          <p:cNvSpPr txBox="1"/>
          <p:nvPr/>
        </p:nvSpPr>
        <p:spPr>
          <a:xfrm>
            <a:off x="6583680" y="4663440"/>
            <a:ext cx="5029200" cy="1463040"/>
          </a:xfrm>
          <a:prstGeom prst="rect">
            <a:avLst/>
          </a:prstGeom>
          <a:noFill/>
        </p:spPr>
        <p:txBody>
          <a:bodyPr wrap="square" lIns="18288" rIns="18288" tIns="9144" bIns="9144">
            <a:normAutofit/>
          </a:bodyPr>
          <a:lstStyle/>
          <a:p>
            <a:r>
              <a:rPr sz="1100" b="0">
                <a:solidFill>
                  <a:srgbClr val="705F44"/>
                </a:solidFill>
                <a:latin typeface="Aptos"/>
              </a:rPr>
              <a:t>Improved promotional effectiveness and optimization of overall program performance for pharmaceutical clients</a:t>
            </a:r>
          </a:p>
        </p:txBody>
      </p:sp>
      <p:sp>
        <p:nvSpPr>
          <p:cNvPr id="21" name="TextBox 20"/>
          <p:cNvSpPr txBox="1"/>
          <p:nvPr/>
        </p:nvSpPr>
        <p:spPr>
          <a:xfrm>
            <a:off x="594360" y="6473952"/>
            <a:ext cx="6400800" cy="182880"/>
          </a:xfrm>
          <a:prstGeom prst="rect">
            <a:avLst/>
          </a:prstGeom>
          <a:noFill/>
        </p:spPr>
        <p:txBody>
          <a:bodyPr wrap="square" lIns="18288" rIns="18288" tIns="9144" bIns="9144">
            <a:normAutofit/>
          </a:bodyPr>
          <a:lstStyle/>
          <a:p>
            <a:r>
              <a:rPr sz="700" b="0">
                <a:solidFill>
                  <a:srgbClr val="705F44"/>
                </a:solidFill>
                <a:latin typeface="Aptos"/>
              </a:rPr>
              <a:t>BLITZ Enterprise Intelligence | Generated from cited RAG synthesis</a:t>
            </a:r>
          </a:p>
        </p:txBody>
      </p:sp>
      <p:sp>
        <p:nvSpPr>
          <p:cNvPr id="22" name="TextBox 21"/>
          <p:cNvSpPr txBox="1"/>
          <p:nvPr/>
        </p:nvSpPr>
        <p:spPr>
          <a:xfrm>
            <a:off x="11201400" y="6446520"/>
            <a:ext cx="411480" cy="201168"/>
          </a:xfrm>
          <a:prstGeom prst="rect">
            <a:avLst/>
          </a:prstGeom>
          <a:noFill/>
        </p:spPr>
        <p:txBody>
          <a:bodyPr wrap="square" lIns="18288" rIns="18288" tIns="9144" bIns="9144">
            <a:normAutofit/>
          </a:bodyPr>
          <a:lstStyle/>
          <a:p>
            <a:pPr algn="r"/>
            <a:r>
              <a:rPr sz="800" b="1">
                <a:solidFill>
                  <a:srgbClr val="B58930"/>
                </a:solidFill>
                <a:latin typeface="Aptos"/>
              </a:rP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5943600" cy="228600"/>
          </a:xfrm>
          <a:prstGeom prst="rect">
            <a:avLst/>
          </a:prstGeom>
          <a:noFill/>
        </p:spPr>
        <p:txBody>
          <a:bodyPr wrap="square" lIns="18288" rIns="18288" tIns="9144" bIns="9144">
            <a:normAutofit/>
          </a:bodyPr>
          <a:lstStyle/>
          <a:p>
            <a:r>
              <a:rPr sz="800" b="1">
                <a:solidFill>
                  <a:srgbClr val="B58930"/>
                </a:solidFill>
                <a:latin typeface="Aptos"/>
              </a:rPr>
              <a:t>PATH TO KICKOFF</a:t>
            </a:r>
          </a:p>
        </p:txBody>
      </p:sp>
      <p:sp>
        <p:nvSpPr>
          <p:cNvPr id="4" name="TextBox 3"/>
          <p:cNvSpPr txBox="1"/>
          <p:nvPr/>
        </p:nvSpPr>
        <p:spPr>
          <a:xfrm>
            <a:off x="594360" y="566928"/>
            <a:ext cx="10515600" cy="566928"/>
          </a:xfrm>
          <a:prstGeom prst="rect">
            <a:avLst/>
          </a:prstGeom>
          <a:noFill/>
        </p:spPr>
        <p:txBody>
          <a:bodyPr wrap="square" lIns="18288" rIns="18288" tIns="9144" bIns="9144">
            <a:normAutofit/>
          </a:bodyPr>
          <a:lstStyle/>
          <a:p>
            <a:r>
              <a:rPr sz="2400" b="1">
                <a:solidFill>
                  <a:srgbClr val="2B2319"/>
                </a:solidFill>
                <a:latin typeface="Aptos"/>
              </a:rPr>
              <a:t>Recommended Next Steps</a:t>
            </a:r>
          </a:p>
        </p:txBody>
      </p:sp>
      <p:sp>
        <p:nvSpPr>
          <p:cNvPr id="5" name="Rectangle 4"/>
          <p:cNvSpPr/>
          <p:nvPr/>
        </p:nvSpPr>
        <p:spPr>
          <a:xfrm>
            <a:off x="594360" y="1207008"/>
            <a:ext cx="10972800" cy="9144"/>
          </a:xfrm>
          <a:prstGeom prst="rect">
            <a:avLst/>
          </a:prstGeom>
          <a:solidFill>
            <a:srgbClr val="DECB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600200"/>
            <a:ext cx="6766560" cy="4114800"/>
          </a:xfrm>
          <a:prstGeom prst="rect">
            <a:avLst/>
          </a:prstGeom>
          <a:noFill/>
        </p:spPr>
        <p:txBody>
          <a:bodyPr wrap="square" lIns="18288" rIns="45720" tIns="18288" bIns="18288">
            <a:normAutofit/>
          </a:bodyPr>
          <a:lstStyle/>
          <a:p>
            <a:pPr>
              <a:spcAft>
                <a:spcPts val="500"/>
              </a:spcAft>
              <a:defRPr sz="1500">
                <a:solidFill>
                  <a:srgbClr val="2B2319"/>
                </a:solidFill>
                <a:latin typeface="Aptos"/>
              </a:defRPr>
            </a:pPr>
            <a:r>
              <a:t>- Schedule discovery session to review current promotional data sources and analytical infrastructure</a:t>
            </a:r>
          </a:p>
          <a:p>
            <a:pPr>
              <a:spcAft>
                <a:spcPts val="500"/>
              </a:spcAft>
              <a:defRPr sz="1500">
                <a:solidFill>
                  <a:srgbClr val="2B2319"/>
                </a:solidFill>
                <a:latin typeface="Aptos"/>
              </a:defRPr>
            </a:pPr>
            <a:r>
              <a:t>- Define PoC scope including specific brands, channels, and timeframe for analysis</a:t>
            </a:r>
          </a:p>
          <a:p>
            <a:pPr>
              <a:spcAft>
                <a:spcPts val="500"/>
              </a:spcAft>
              <a:defRPr sz="1500">
                <a:solidFill>
                  <a:srgbClr val="2B2319"/>
                </a:solidFill>
                <a:latin typeface="Aptos"/>
              </a:defRPr>
            </a:pPr>
            <a:r>
              <a:t>- Secure access to sales, promotional spend, and HCP engagement datasets for modeling</a:t>
            </a:r>
          </a:p>
        </p:txBody>
      </p:sp>
      <p:sp>
        <p:nvSpPr>
          <p:cNvPr id="7" name="Rounded Rectangle 6"/>
          <p:cNvSpPr/>
          <p:nvPr/>
        </p:nvSpPr>
        <p:spPr>
          <a:xfrm>
            <a:off x="7818120" y="1600200"/>
            <a:ext cx="3886200" cy="4069080"/>
          </a:xfrm>
          <a:prstGeom prst="roundRect">
            <a:avLst/>
          </a:prstGeom>
          <a:solidFill>
            <a:srgbClr val="FFFFFF"/>
          </a:solidFill>
          <a:ln>
            <a:solidFill>
              <a:srgbClr val="DECB9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28431" y="1783080"/>
            <a:ext cx="3520440" cy="320040"/>
          </a:xfrm>
          <a:prstGeom prst="rect">
            <a:avLst/>
          </a:prstGeom>
          <a:noFill/>
        </p:spPr>
        <p:txBody>
          <a:bodyPr wrap="square" lIns="18288" rIns="18288" tIns="9144" bIns="9144">
            <a:normAutofit/>
          </a:bodyPr>
          <a:lstStyle/>
          <a:p>
            <a:r>
              <a:rPr sz="1100" b="1">
                <a:solidFill>
                  <a:srgbClr val="B58930"/>
                </a:solidFill>
                <a:latin typeface="Aptos"/>
              </a:rPr>
              <a:t>From proposal to kickoff</a:t>
            </a:r>
          </a:p>
        </p:txBody>
      </p:sp>
      <p:sp>
        <p:nvSpPr>
          <p:cNvPr id="9" name="TextBox 8"/>
          <p:cNvSpPr txBox="1"/>
          <p:nvPr/>
        </p:nvSpPr>
        <p:spPr>
          <a:xfrm>
            <a:off x="8028431" y="2194560"/>
            <a:ext cx="3520440" cy="3246120"/>
          </a:xfrm>
          <a:prstGeom prst="rect">
            <a:avLst/>
          </a:prstGeom>
          <a:noFill/>
        </p:spPr>
        <p:txBody>
          <a:bodyPr wrap="square" lIns="18288" rIns="18288" tIns="9144" bIns="9144">
            <a:normAutofit/>
          </a:bodyPr>
          <a:lstStyle/>
          <a:p>
            <a:r>
              <a:rPr sz="1000" b="0">
                <a:solidFill>
                  <a:srgbClr val="705F44"/>
                </a:solidFill>
                <a:latin typeface="Aptos"/>
              </a:rPr>
              <a:t>Concrete steps to convert this proposal into a signed engagement.</a:t>
            </a:r>
          </a:p>
        </p:txBody>
      </p:sp>
      <p:sp>
        <p:nvSpPr>
          <p:cNvPr id="10" name="TextBox 9"/>
          <p:cNvSpPr txBox="1"/>
          <p:nvPr/>
        </p:nvSpPr>
        <p:spPr>
          <a:xfrm>
            <a:off x="594360" y="6473952"/>
            <a:ext cx="6400800" cy="182880"/>
          </a:xfrm>
          <a:prstGeom prst="rect">
            <a:avLst/>
          </a:prstGeom>
          <a:noFill/>
        </p:spPr>
        <p:txBody>
          <a:bodyPr wrap="square" lIns="18288" rIns="18288" tIns="9144" bIns="9144">
            <a:normAutofit/>
          </a:bodyPr>
          <a:lstStyle/>
          <a:p>
            <a:r>
              <a:rPr sz="700" b="0">
                <a:solidFill>
                  <a:srgbClr val="705F44"/>
                </a:solidFill>
                <a:latin typeface="Aptos"/>
              </a:rPr>
              <a:t>BLITZ Enterprise Intelligence | Generated from cited RAG synthesis</a:t>
            </a:r>
          </a:p>
        </p:txBody>
      </p:sp>
      <p:sp>
        <p:nvSpPr>
          <p:cNvPr id="11" name="TextBox 10"/>
          <p:cNvSpPr txBox="1"/>
          <p:nvPr/>
        </p:nvSpPr>
        <p:spPr>
          <a:xfrm>
            <a:off x="11201400" y="6446520"/>
            <a:ext cx="411480" cy="201168"/>
          </a:xfrm>
          <a:prstGeom prst="rect">
            <a:avLst/>
          </a:prstGeom>
          <a:noFill/>
        </p:spPr>
        <p:txBody>
          <a:bodyPr wrap="square" lIns="18288" rIns="18288" tIns="9144" bIns="9144">
            <a:normAutofit/>
          </a:bodyPr>
          <a:lstStyle/>
          <a:p>
            <a:pPr algn="r"/>
            <a:r>
              <a:rPr sz="800" b="1">
                <a:solidFill>
                  <a:srgbClr val="B58930"/>
                </a:solidFill>
                <a:latin typeface="Aptos"/>
              </a:rP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5943600" cy="228600"/>
          </a:xfrm>
          <a:prstGeom prst="rect">
            <a:avLst/>
          </a:prstGeom>
          <a:noFill/>
        </p:spPr>
        <p:txBody>
          <a:bodyPr wrap="square" lIns="18288" rIns="18288" tIns="9144" bIns="9144">
            <a:normAutofit/>
          </a:bodyPr>
          <a:lstStyle/>
          <a:p>
            <a:r>
              <a:rPr sz="800" b="1">
                <a:solidFill>
                  <a:srgbClr val="B58930"/>
                </a:solidFill>
                <a:latin typeface="Aptos"/>
              </a:rPr>
              <a:t>FULL SOURCE LIST</a:t>
            </a:r>
          </a:p>
        </p:txBody>
      </p:sp>
      <p:sp>
        <p:nvSpPr>
          <p:cNvPr id="4" name="TextBox 3"/>
          <p:cNvSpPr txBox="1"/>
          <p:nvPr/>
        </p:nvSpPr>
        <p:spPr>
          <a:xfrm>
            <a:off x="594360" y="566928"/>
            <a:ext cx="10515600" cy="566928"/>
          </a:xfrm>
          <a:prstGeom prst="rect">
            <a:avLst/>
          </a:prstGeom>
          <a:noFill/>
        </p:spPr>
        <p:txBody>
          <a:bodyPr wrap="square" lIns="18288" rIns="18288" tIns="9144" bIns="9144">
            <a:normAutofit/>
          </a:bodyPr>
          <a:lstStyle/>
          <a:p>
            <a:r>
              <a:rPr sz="2400" b="1">
                <a:solidFill>
                  <a:srgbClr val="2B2319"/>
                </a:solidFill>
                <a:latin typeface="Aptos"/>
              </a:rPr>
              <a:t>Appendix: Referenced Documents</a:t>
            </a:r>
          </a:p>
        </p:txBody>
      </p:sp>
      <p:sp>
        <p:nvSpPr>
          <p:cNvPr id="5" name="Rectangle 4"/>
          <p:cNvSpPr/>
          <p:nvPr/>
        </p:nvSpPr>
        <p:spPr>
          <a:xfrm>
            <a:off x="594360" y="1207008"/>
            <a:ext cx="10972800" cy="9144"/>
          </a:xfrm>
          <a:prstGeom prst="rect">
            <a:avLst/>
          </a:prstGeom>
          <a:solidFill>
            <a:srgbClr val="DECB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508760"/>
            <a:ext cx="10515600" cy="4389120"/>
          </a:xfrm>
          <a:prstGeom prst="rect">
            <a:avLst/>
          </a:prstGeom>
          <a:noFill/>
        </p:spPr>
        <p:txBody>
          <a:bodyPr wrap="square" lIns="18288" rIns="45720" tIns="18288" bIns="18288">
            <a:normAutofit/>
          </a:bodyPr>
          <a:lstStyle/>
          <a:p>
            <a:pPr>
              <a:spcAft>
                <a:spcPts val="500"/>
              </a:spcAft>
              <a:defRPr sz="1200">
                <a:solidFill>
                  <a:srgbClr val="2B2319"/>
                </a:solidFill>
                <a:latin typeface="Aptos"/>
              </a:defRPr>
            </a:pPr>
            <a:r>
              <a:t>- Doc 1: Capability Decks | DataScience_MarketingMixMode... | Client: Capability Decks | POC: Unknown</a:t>
            </a:r>
          </a:p>
          <a:p>
            <a:pPr>
              <a:spcAft>
                <a:spcPts val="500"/>
              </a:spcAft>
              <a:defRPr sz="1200">
                <a:solidFill>
                  <a:srgbClr val="2B2319"/>
                </a:solidFill>
                <a:latin typeface="Aptos"/>
              </a:defRPr>
            </a:pPr>
            <a:r>
              <a:t>- Doc 2: Capability Decks | CommercialAnalytics_Promotio... | Client: Capability Decks | POC: Unknown</a:t>
            </a:r>
          </a:p>
        </p:txBody>
      </p:sp>
      <p:sp>
        <p:nvSpPr>
          <p:cNvPr id="7" name="TextBox 6"/>
          <p:cNvSpPr txBox="1"/>
          <p:nvPr/>
        </p:nvSpPr>
        <p:spPr>
          <a:xfrm>
            <a:off x="594360" y="6473952"/>
            <a:ext cx="6400800" cy="182880"/>
          </a:xfrm>
          <a:prstGeom prst="rect">
            <a:avLst/>
          </a:prstGeom>
          <a:noFill/>
        </p:spPr>
        <p:txBody>
          <a:bodyPr wrap="square" lIns="18288" rIns="18288" tIns="9144" bIns="9144">
            <a:normAutofit/>
          </a:bodyPr>
          <a:lstStyle/>
          <a:p>
            <a:r>
              <a:rPr sz="700" b="0">
                <a:solidFill>
                  <a:srgbClr val="705F44"/>
                </a:solidFill>
                <a:latin typeface="Aptos"/>
              </a:rPr>
              <a:t>BLITZ Enterprise Intelligence | Generated from cited RAG synthesis</a:t>
            </a:r>
          </a:p>
        </p:txBody>
      </p:sp>
      <p:sp>
        <p:nvSpPr>
          <p:cNvPr id="8" name="TextBox 7"/>
          <p:cNvSpPr txBox="1"/>
          <p:nvPr/>
        </p:nvSpPr>
        <p:spPr>
          <a:xfrm>
            <a:off x="11201400" y="6446520"/>
            <a:ext cx="411480" cy="201168"/>
          </a:xfrm>
          <a:prstGeom prst="rect">
            <a:avLst/>
          </a:prstGeom>
          <a:noFill/>
        </p:spPr>
        <p:txBody>
          <a:bodyPr wrap="square" lIns="18288" rIns="18288" tIns="9144" bIns="9144">
            <a:normAutofit/>
          </a:bodyPr>
          <a:lstStyle/>
          <a:p>
            <a:pPr algn="r"/>
            <a:r>
              <a:rPr sz="800" b="1">
                <a:solidFill>
                  <a:srgbClr val="B58930"/>
                </a:solidFill>
                <a:latin typeface="Aptos"/>
              </a:rPr>
              <a:t>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