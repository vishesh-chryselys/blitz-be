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55448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B58930"/>
                </a:solidFill>
                <a:latin typeface="Aptos"/>
              </a:rPr>
              <a:t>BLITZ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78638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3400" b="1">
                <a:solidFill>
                  <a:srgbClr val="2B2319"/>
                </a:solidFill>
                <a:latin typeface="Aptos"/>
              </a:rPr>
              <a:t>Chryselys Consulting: Driving Insights for Stemline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816352"/>
            <a:ext cx="60350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0">
                <a:solidFill>
                  <a:srgbClr val="705F44"/>
                </a:solidFill>
                <a:latin typeface="Aptos"/>
              </a:rPr>
              <a:t>Comprehensive Analytics and Strategic Consulting for Orserdu Commercialization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22191"/>
            <a:ext cx="5394960" cy="132588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B2319"/>
                </a:solidFill>
                <a:latin typeface="Aptos"/>
              </a:defRPr>
            </a:pPr>
            <a:r>
              <a:t>- Chryselys leveraged deep expertise in data aggregation, advanced analytics, and market intelligence to d...</a:t>
            </a:r>
          </a:p>
          <a:p>
            <a:pPr>
              <a:spcAft>
                <a:spcPts val="500"/>
              </a:spcAft>
              <a:defRPr sz="1300">
                <a:solidFill>
                  <a:srgbClr val="2B2319"/>
                </a:solidFill>
                <a:latin typeface="Aptos"/>
              </a:defRPr>
            </a:pPr>
            <a:r>
              <a:t>- Key outcomes included informing strategic planning and commercialization efforts through analysis of ESR...</a:t>
            </a:r>
          </a:p>
          <a:p>
            <a:pPr>
              <a:spcAft>
                <a:spcPts val="500"/>
              </a:spcAft>
              <a:defRPr sz="1300">
                <a:solidFill>
                  <a:srgbClr val="2B2319"/>
                </a:solidFill>
                <a:latin typeface="Aptos"/>
              </a:defRPr>
            </a:pPr>
            <a:r>
              <a:t>- Chryselys' innovative analytical models and visualization tools enabled Stemline to make data-driven dec...</a:t>
            </a:r>
          </a:p>
        </p:txBody>
      </p:sp>
      <p:sp>
        <p:nvSpPr>
          <p:cNvPr id="7" name="Oval 6"/>
          <p:cNvSpPr/>
          <p:nvPr/>
        </p:nvSpPr>
        <p:spPr>
          <a:xfrm>
            <a:off x="7635240" y="1188720"/>
            <a:ext cx="3291840" cy="3291840"/>
          </a:xfrm>
          <a:prstGeom prst="ellipse">
            <a:avLst/>
          </a:prstGeom>
          <a:solidFill>
            <a:srgbClr val="F4E6BB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2148840"/>
            <a:ext cx="1645920" cy="5486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3200" b="1">
                <a:solidFill>
                  <a:srgbClr val="B58930"/>
                </a:solidFill>
                <a:latin typeface="Aptos"/>
              </a:rPr>
              <a:t>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834640"/>
            <a:ext cx="2240280" cy="7315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0">
                <a:solidFill>
                  <a:srgbClr val="705F44"/>
                </a:solidFill>
                <a:latin typeface="Aptos"/>
              </a:rPr>
              <a:t>Cited synthesis</a:t>
            </a:r>
            <a:br/>
            <a:r>
              <a:t>Source mapping</a:t>
            </a:r>
            <a:br/>
            <a:r>
              <a:t>Proposal-ready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DECISION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257800" cy="224028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Chryselys leveraged deep expertise in data aggregation, advanced analytics, and market intelligence to d...</a:t>
            </a:r>
          </a:p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Key outcomes included informing strategic planning and commercialization efforts through analysis of ESR...</a:t>
            </a:r>
          </a:p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Chryselys' innovative analytical models and visualization tools enabled Stemline to make data-driven dec...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600200"/>
            <a:ext cx="4526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47688" y="1746504"/>
            <a:ext cx="4123944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2B2319"/>
                </a:solidFill>
                <a:latin typeface="Aptos"/>
              </a:rPr>
              <a:t>Business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7688" y="2167128"/>
            <a:ext cx="4123944" cy="1124711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Stemline Therapeutics, a pharmaceutical company, engaged Chryselys to provide comprehensive analytics and strategic consulting services to support the commercialization of their oncology brand, Orserdu. Chryse...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794760"/>
            <a:ext cx="4389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9128" y="3941064"/>
            <a:ext cx="3986784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2B2319"/>
                </a:solidFill>
                <a:latin typeface="Aptos"/>
              </a:rPr>
              <a:t>Recommended posture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4361688"/>
            <a:ext cx="3986784" cy="66751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Use prior Chryselys evidence to shape a focused client conversation and accelerate proposal development.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EVIDENCE-BACKED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Relevant Chryselys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72768"/>
            <a:ext cx="31546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2011680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2B2319"/>
                </a:solidFill>
                <a:latin typeface="Aptos"/>
              </a:rPr>
              <a:t>Comprehensive Market Assessments and Competitive Intellig...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39696"/>
            <a:ext cx="2752344" cy="28620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Chryselys leverages multi-source data aggregation, advanced analytical modeling, and human expertise to deliver actionable insights that support phar... | POC: Kamakshi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737360"/>
            <a:ext cx="82296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Doc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72768"/>
            <a:ext cx="31546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719072"/>
            <a:ext cx="2011680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2B2319"/>
                </a:solidFill>
                <a:latin typeface="Aptos"/>
              </a:rPr>
              <a:t>Agentic AI Capabilities for Pharma Analytics and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39696"/>
            <a:ext cx="2752344" cy="28620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Chryselys' AIVY platform utilizes large language models, knowledge graphs, and other AI/ML techniques to provide solutions for market research, learn... | POC: Unknown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37360"/>
            <a:ext cx="82296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Doc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058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100" b="0">
                <a:solidFill>
                  <a:srgbClr val="705F44"/>
                </a:solidFill>
                <a:latin typeface="Aptos"/>
              </a:rPr>
              <a:t>Each experience card is source-backed and intended as a prompt for proposal narrative, SME follow-up, and client-facing proof points.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EXECUTION STORYLINE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Recommended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90472" y="2084832"/>
            <a:ext cx="1920240" cy="22860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Aggregate and analyze multi-source healthcare data to derive insights o...</a:t>
            </a:r>
          </a:p>
        </p:txBody>
      </p:sp>
      <p:sp>
        <p:nvSpPr>
          <p:cNvPr id="10" name="Oval 9"/>
          <p:cNvSpPr/>
          <p:nvPr/>
        </p:nvSpPr>
        <p:spPr>
          <a:xfrm>
            <a:off x="301752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382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9312" y="2084832"/>
            <a:ext cx="1920240" cy="22860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Develop custom analytical models and visualization tools to present fin...</a:t>
            </a:r>
          </a:p>
        </p:txBody>
      </p:sp>
      <p:sp>
        <p:nvSpPr>
          <p:cNvPr id="14" name="Oval 13"/>
          <p:cNvSpPr/>
          <p:nvPr/>
        </p:nvSpPr>
        <p:spPr>
          <a:xfrm>
            <a:off x="516636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266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88152" y="2084832"/>
            <a:ext cx="1920240" cy="22860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176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Provide strategic recommendations to support Stemline's commercializati...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150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Maintain ongoing collaboration and knowledge sharing to ensure Stemline...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RAG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Evidence &amp; Source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53312"/>
            <a:ext cx="356616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353312"/>
            <a:ext cx="128016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53312"/>
            <a:ext cx="132588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POC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353312"/>
            <a:ext cx="3429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9436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Doc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27632"/>
            <a:ext cx="3429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2B2319"/>
                </a:solidFill>
                <a:latin typeface="Aptos"/>
              </a:rPr>
              <a:t>Stemline_MarketSizing_20230301_v2.pptx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627632"/>
            <a:ext cx="1143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Stemline Therapeutics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27632"/>
            <a:ext cx="1188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John Doe, Jane Smith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1627632"/>
            <a:ext cx="3429000" cy="3474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This document provides an overview of Chryselys' work in analyzing the prevalence of ES...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084832"/>
            <a:ext cx="1037844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377440"/>
            <a:ext cx="59436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Doc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377440"/>
            <a:ext cx="3429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2B2319"/>
                </a:solidFill>
                <a:latin typeface="Aptos"/>
              </a:rPr>
              <a:t>Stemline_TreatmentPatterns_20230415_v1.xlsx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377440"/>
            <a:ext cx="1143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Stemline Therapeutics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377440"/>
            <a:ext cx="1188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John Doe, Jane Smith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377440"/>
            <a:ext cx="3429000" cy="3474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This document contains the analysis of treatment patterns for Orserdu, which was used t...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2834640"/>
            <a:ext cx="1037844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PATH TO CLIENT-READY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Suggested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5212080" cy="210312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Establish a long-term partnership to support Stemline's ongoing market monitoring and strategic planning...</a:t>
            </a:r>
          </a:p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Explore opportunities to leverage Chryselys' Agentic AI capabilities to enhance Stemline's data-driven d...</a:t>
            </a:r>
          </a:p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Collaborate on developing innovative analytical models and visualization tools to further optimize Orser...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91640"/>
            <a:ext cx="4297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4848" y="1837944"/>
            <a:ext cx="3895344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2B2319"/>
                </a:solidFill>
                <a:latin typeface="Aptos"/>
              </a:rPr>
              <a:t>BLITZ output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2258568"/>
            <a:ext cx="3895344" cy="15361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This deck combines the RAG answer, source provenance, and recommended proposal motion into one reusable enablement artifact.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FULL SOURCE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Appendix: Referenced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332720" cy="438912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B2319"/>
                </a:solidFill>
                <a:latin typeface="Aptos"/>
              </a:defRPr>
            </a:pPr>
            <a:r>
              <a:t>- Doc 1: Stemline_MarketSizing_20230301_v2.pptx | Client: Stemline Therapeutics | POC: John Doe, Jane Smith</a:t>
            </a:r>
          </a:p>
          <a:p>
            <a:pPr>
              <a:spcAft>
                <a:spcPts val="500"/>
              </a:spcAft>
              <a:defRPr sz="1000">
                <a:solidFill>
                  <a:srgbClr val="2B2319"/>
                </a:solidFill>
                <a:latin typeface="Aptos"/>
              </a:defRPr>
            </a:pPr>
            <a:r>
              <a:t>- Doc 2: Stemline_TreatmentPatterns_20230415_v1.xlsx | Client: Stemline Therapeutics | POC: John Doe, Jane...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