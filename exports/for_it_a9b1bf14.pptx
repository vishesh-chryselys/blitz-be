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55448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B58930"/>
                </a:solidFill>
                <a:latin typeface="Aptos"/>
              </a:rPr>
              <a:t>BLITZ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6537960" cy="10058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3100" b="1">
                <a:solidFill>
                  <a:srgbClr val="2B2319"/>
                </a:solidFill>
                <a:latin typeface="Aptos"/>
              </a:rPr>
              <a:t>for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70632"/>
            <a:ext cx="571500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0">
                <a:solidFill>
                  <a:srgbClr val="705F44"/>
                </a:solidFill>
                <a:latin typeface="Aptos"/>
              </a:rPr>
              <a:t>Generated by BLITZ Enterprise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30752"/>
            <a:ext cx="5303520" cy="137160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B2319"/>
                </a:solidFill>
                <a:latin typeface="Aptos"/>
              </a:defRPr>
            </a:pPr>
            <a:r>
              <a:t>- Here is a draft PowerPoint presentation on Chryselys' data science capabilities for your sales pitch:</a:t>
            </a:r>
          </a:p>
          <a:p>
            <a:pPr>
              <a:spcAft>
                <a:spcPts val="500"/>
              </a:spcAft>
              <a:defRPr sz="1200">
                <a:solidFill>
                  <a:srgbClr val="2B2319"/>
                </a:solidFill>
                <a:latin typeface="Aptos"/>
              </a:defRPr>
            </a:pPr>
            <a:r>
              <a:t>- Slide 1: Introduction</a:t>
            </a:r>
          </a:p>
          <a:p>
            <a:pPr>
              <a:spcAft>
                <a:spcPts val="500"/>
              </a:spcAft>
              <a:defRPr sz="1200">
                <a:solidFill>
                  <a:srgbClr val="2B2319"/>
                </a:solidFill>
                <a:latin typeface="Aptos"/>
              </a:defRPr>
            </a:pPr>
            <a:r>
              <a:t>- Chryselys is a leading provider of data-driven solutions for the pharmaceutical industry</a:t>
            </a:r>
          </a:p>
        </p:txBody>
      </p:sp>
      <p:sp>
        <p:nvSpPr>
          <p:cNvPr id="7" name="Oval 6"/>
          <p:cNvSpPr/>
          <p:nvPr/>
        </p:nvSpPr>
        <p:spPr>
          <a:xfrm>
            <a:off x="7909560" y="1234440"/>
            <a:ext cx="3063240" cy="3063240"/>
          </a:xfrm>
          <a:prstGeom prst="ellipse">
            <a:avLst/>
          </a:prstGeom>
          <a:solidFill>
            <a:srgbClr val="F4E6BB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2148840"/>
            <a:ext cx="160020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3000" b="1">
                <a:solidFill>
                  <a:srgbClr val="B58930"/>
                </a:solidFill>
                <a:latin typeface="Aptos"/>
              </a:rP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816352"/>
            <a:ext cx="2240280" cy="7315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100" b="0">
                <a:solidFill>
                  <a:srgbClr val="705F44"/>
                </a:solidFill>
                <a:latin typeface="Aptos"/>
              </a:rPr>
              <a:t>Cited synthesis</a:t>
            </a:r>
            <a:br/>
            <a:r>
              <a:t>Source mapping</a:t>
            </a:r>
            <a:br/>
            <a:r>
              <a:t>Proposal-ready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DECISION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074920" cy="224028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B2319"/>
                </a:solidFill>
                <a:latin typeface="Aptos"/>
              </a:defRPr>
            </a:pPr>
            <a:r>
              <a:t>- Here is a draft PowerPoint presentation on Chryselys' data science capabilities for your sales pitch:</a:t>
            </a:r>
          </a:p>
          <a:p>
            <a:pPr>
              <a:spcAft>
                <a:spcPts val="500"/>
              </a:spcAft>
              <a:defRPr sz="1500">
                <a:solidFill>
                  <a:srgbClr val="2B2319"/>
                </a:solidFill>
                <a:latin typeface="Aptos"/>
              </a:defRPr>
            </a:pPr>
            <a:r>
              <a:t>- Slide 1: Introduction</a:t>
            </a:r>
          </a:p>
          <a:p>
            <a:pPr>
              <a:spcAft>
                <a:spcPts val="500"/>
              </a:spcAft>
              <a:defRPr sz="1500">
                <a:solidFill>
                  <a:srgbClr val="2B2319"/>
                </a:solidFill>
                <a:latin typeface="Aptos"/>
              </a:defRPr>
            </a:pPr>
            <a:r>
              <a:t>- Chryselys is a leading provider of data-driven solutions for the pharmaceutical industry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600200"/>
            <a:ext cx="4389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7688" y="1746504"/>
            <a:ext cx="398678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2B2319"/>
                </a:solidFill>
                <a:latin typeface="Aptos"/>
              </a:rPr>
              <a:t>Business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7688" y="2167128"/>
            <a:ext cx="3986784" cy="112471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generate a PPT for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794760"/>
            <a:ext cx="4389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3941064"/>
            <a:ext cx="398678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2B2319"/>
                </a:solidFill>
                <a:latin typeface="Aptos"/>
              </a:rPr>
              <a:t>Recommended posture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4361688"/>
            <a:ext cx="3986784" cy="66751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Use cited Chryselys evidence to shape proposal narrative and client next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EVIDENCE-BACKED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Relevant Chryselys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3154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2011680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2B2319"/>
                </a:solidFill>
                <a:latin typeface="Aptos"/>
              </a:rPr>
              <a:t>Capability Decks | FFE_LaunchReadinessProposa...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39696"/>
            <a:ext cx="2752344" cy="28620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The document outlines Chryselys' 'Initi8' launch readiness solution, which leverages AI/ML to support best-in-class launch s... | POC: Unknown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37360"/>
            <a:ext cx="82296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Doc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72768"/>
            <a:ext cx="3154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19072"/>
            <a:ext cx="2011680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2B2319"/>
                </a:solidFill>
                <a:latin typeface="Aptos"/>
              </a:rPr>
              <a:t>Capability Decks | CI_CongressAIVYOverview_20...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39696"/>
            <a:ext cx="2752344" cy="28620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This document provides an overview of Chryselys' AIVY platform, an AI-powered competitive intelligence solution that can ext... | POC: Kamakshi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82296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Doc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572768"/>
            <a:ext cx="3154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7" y="1719072"/>
            <a:ext cx="2011680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2B2319"/>
                </a:solidFill>
                <a:latin typeface="Aptos"/>
              </a:rPr>
              <a:t>Capability Decks | Forecasting_CapabilityOver...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7" y="2139696"/>
            <a:ext cx="2752344" cy="28620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This document provides an overview of Chryselys' forecasting capabilities, including their custom forecasting solutions, gen... | POC: Sekhar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399" y="1737360"/>
            <a:ext cx="82296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Doc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0058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100" b="0">
                <a:solidFill>
                  <a:srgbClr val="705F44"/>
                </a:solidFill>
                <a:latin typeface="Aptos"/>
              </a:rPr>
              <a:t>Each experience card is source-backed and intended as a prompt for proposal narrative, SME follow-up, and client-facing proof points.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EXECUTION STORYLINE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Recommended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9047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Clarify the client objective and decision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301752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382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931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Map relevant prior work, datasets, and subject matter expertise.</a:t>
            </a:r>
          </a:p>
        </p:txBody>
      </p:sp>
      <p:sp>
        <p:nvSpPr>
          <p:cNvPr id="14" name="Oval 13"/>
          <p:cNvSpPr/>
          <p:nvPr/>
        </p:nvSpPr>
        <p:spPr>
          <a:xfrm>
            <a:off x="516636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Shape the response into a proposal-ready storyline with cited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RAG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Evidence &amp; Source Mapping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89888"/>
            <a:ext cx="306324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389888"/>
            <a:ext cx="1143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389888"/>
            <a:ext cx="123444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POC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389888"/>
            <a:ext cx="3886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Why it matters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45920"/>
            <a:ext cx="106527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737360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Doc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737360"/>
            <a:ext cx="2971800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2B2319"/>
                </a:solidFill>
                <a:latin typeface="Aptos"/>
              </a:rPr>
              <a:t>Capability Decks | FFE_LaunchReadinessPro...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1078992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Capability Decks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737360"/>
            <a:ext cx="1170432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Unknown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737360"/>
            <a:ext cx="388620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The document outlines Chryselys' 'Initi8' launch readiness solution, which leverages AI/ML to s...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267712"/>
            <a:ext cx="1014984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2578608"/>
            <a:ext cx="106527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67004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Doc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670048"/>
            <a:ext cx="2971800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2B2319"/>
                </a:solidFill>
                <a:latin typeface="Aptos"/>
              </a:rPr>
              <a:t>Capability Decks | CI_CongressAIVYOvervie...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670048"/>
            <a:ext cx="1078992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Capability Decks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670048"/>
            <a:ext cx="1170432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Kamakshi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670048"/>
            <a:ext cx="388620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This document provides an overview of Chryselys' AIVY platform, an AI-powered competitive intel...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200400"/>
            <a:ext cx="1014984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3511296"/>
            <a:ext cx="106527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602736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Doc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602736"/>
            <a:ext cx="2971800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2B2319"/>
                </a:solidFill>
                <a:latin typeface="Aptos"/>
              </a:rPr>
              <a:t>Capability Decks | Forecasting_Capability...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602736"/>
            <a:ext cx="1078992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Capability Decks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602736"/>
            <a:ext cx="1170432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Sekhar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602736"/>
            <a:ext cx="388620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This document provides an overview of Chryselys' forecasting capabilities, including their cust...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133088"/>
            <a:ext cx="1014984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4443984"/>
            <a:ext cx="106527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4535424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Doc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535424"/>
            <a:ext cx="2971800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2B2319"/>
                </a:solidFill>
                <a:latin typeface="Aptos"/>
              </a:rPr>
              <a:t>Capability Decks | DataScience_TargetingK...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535424"/>
            <a:ext cx="1078992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Capability Decks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4535424"/>
            <a:ext cx="1170432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Unknown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535424"/>
            <a:ext cx="388620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This document outlines a comprehensive approach to HCP targeting and segmentation, leveraging a...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5065776"/>
            <a:ext cx="1014984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RAG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Evidence &amp; Source Mapping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89888"/>
            <a:ext cx="306324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389888"/>
            <a:ext cx="1143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389888"/>
            <a:ext cx="123444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POC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389888"/>
            <a:ext cx="3886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Why it matters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45920"/>
            <a:ext cx="106527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737360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Doc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737360"/>
            <a:ext cx="2971800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2B2319"/>
                </a:solidFill>
                <a:latin typeface="Aptos"/>
              </a:rPr>
              <a:t>Capability Decks | FFE_MarketAssessmentan...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1078992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Capability Decks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737360"/>
            <a:ext cx="1170432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Unknown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737360"/>
            <a:ext cx="388620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This document provides a comprehensive market assessment and sizing proposal for a pharma produ...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267712"/>
            <a:ext cx="1014984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PATH TO CLIENT-READY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Suggested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5212080" cy="210312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Validate source fit with the listed POCs.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Confirm scope, data availability, and deliverable expectations.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Convert the recommended approach into a client-facing proposal deck.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91640"/>
            <a:ext cx="4297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4848" y="1837944"/>
            <a:ext cx="389534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2B2319"/>
                </a:solidFill>
                <a:latin typeface="Aptos"/>
              </a:rPr>
              <a:t>BLITZ output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2258568"/>
            <a:ext cx="3895344" cy="15361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This deck combines the RAG answer, source provenance, and recommended proposal motion into one reusable enablement artifact.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FULL SOURCE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Appendix: Referenced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332720" cy="438912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900">
                <a:solidFill>
                  <a:srgbClr val="2B2319"/>
                </a:solidFill>
                <a:latin typeface="Aptos"/>
              </a:defRPr>
            </a:pPr>
            <a:r>
              <a:t>- Doc 1: Capability Decks | FFE_LaunchReadinessProposal_... | Client: Capability Decks | POC: Unknown</a:t>
            </a:r>
          </a:p>
          <a:p>
            <a:pPr>
              <a:spcAft>
                <a:spcPts val="500"/>
              </a:spcAft>
              <a:defRPr sz="900">
                <a:solidFill>
                  <a:srgbClr val="2B2319"/>
                </a:solidFill>
                <a:latin typeface="Aptos"/>
              </a:defRPr>
            </a:pPr>
            <a:r>
              <a:t>- Doc 2: Capability Decks | CI_CongressAIVYOverview_2026... | Client: Capability Decks | POC: Kamakshi</a:t>
            </a:r>
          </a:p>
          <a:p>
            <a:pPr>
              <a:spcAft>
                <a:spcPts val="500"/>
              </a:spcAft>
              <a:defRPr sz="900">
                <a:solidFill>
                  <a:srgbClr val="2B2319"/>
                </a:solidFill>
                <a:latin typeface="Aptos"/>
              </a:defRPr>
            </a:pPr>
            <a:r>
              <a:t>- Doc 3: Capability Decks | Forecasting_CapabilityOvervi... | Client: Capability Decks | POC: Sekhar</a:t>
            </a:r>
          </a:p>
          <a:p>
            <a:pPr>
              <a:spcAft>
                <a:spcPts val="500"/>
              </a:spcAft>
              <a:defRPr sz="900">
                <a:solidFill>
                  <a:srgbClr val="2B2319"/>
                </a:solidFill>
                <a:latin typeface="Aptos"/>
              </a:defRPr>
            </a:pPr>
            <a:r>
              <a:t>- Doc 4: Capability Decks | DataScience_TargetingKOLInde... | Client: Capability Decks | POC: Unknown</a:t>
            </a:r>
          </a:p>
          <a:p>
            <a:pPr>
              <a:spcAft>
                <a:spcPts val="500"/>
              </a:spcAft>
              <a:defRPr sz="900">
                <a:solidFill>
                  <a:srgbClr val="2B2319"/>
                </a:solidFill>
                <a:latin typeface="Aptos"/>
              </a:defRPr>
            </a:pPr>
            <a:r>
              <a:t>- Doc 5: Capability Decks | FFE_MarketAssessmentandSizin... | Client: Capability Decks | POC: Unknown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